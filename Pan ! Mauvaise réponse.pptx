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Rubik" pitchFamily="34" charset="0"/>
      <p:regular r:id="rId18"/>
      <p:bold r:id="rId19"/>
    </p:embeddedFont>
    <p:embeddedFont>
      <p:font typeface="Oswald" pitchFamily="34" charset="0"/>
      <p:regular r:id="rId20"/>
      <p:bold r:id="rId21"/>
    </p:embeddedFont>
    <p:embeddedFont>
      <p:font typeface="JetBrains Mono" panose="02000009000000000000" pitchFamily="49"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Pan ! Mauvaise réponse » est un petit jeu de tir à la première personne, dans le navigateur, pour réviser le web : HTTP, REST, CORS, l’authentification, les failles de sécurité et le cache. Le principe tient en une phrase : chaque ennemi porte une réponse, on abat les mauvaises et on épargne la bonne.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renversement est voulu : on ne vise pas la bonne réponse, on élimine les mauvaises. Il faut donc reconnaître chaque erreur, pas seulement deviner la bonne. Toucher la bonne réponse coûte 25 PV et fait rater la question ; laisser filer le chrono en coûte 20. À 0 PV, la partie est perdue.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partie suit le même parcours : six zones thématiques de quatre questions, puis un boss final de six questions mélangées entre tous les thèmes. Les questions sont tirées au hasard dans un réservoir d’au moins dix par thème, donc deux parties ne se ressemblent pas. Chaque zone a son décor et sa propre musique.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score récompense deux choses : enchaîner les réussites et répondre vite. Le combo monte de 0,25 à chaque question réussie, jusqu’à ×4, et retombe à ×1 à la première erreur. Le bonus de vitesse va jusqu’à ×1,5. Les questions du boss valent 200 points de base au lieu de 100. Un mode entraînement permet de s’exercer sans perdre de PV, hors classement.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choix qui structure tout le projet. Dans un jeu de quiz côté navigateur, il suffirait d’ouvrir les outils de développement pour lire la bonne réponse. Ici, le client ne la reçoit qu’une fois la question terminée. Le serveur tire la série de questions, mélange les réponses, chronomètre, et calcule lui-même les PV, le score, le combo et les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un monorepo npm. Le client tourne dans le navigateur avec React Three Fiber pour la scène 3D ; tout le HUD (question, PV, combo, explications) reste en HTML et CSS, plus simple et plus lisible. L’API Express valide chaque entrée avec Zod et gère l’authentification. PostgreSQL stocke les questions, les parties et le journal de chaque tir. Docker ne sert qu’à la base, pour garder le rechargement à chaud en développement.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applique ce qu’il enseigne. Les réponses restent sur le serveur, le chrono aussi, et chaque tir est traité sous verrou pour qu’un double clic ne compte pas deux fois. L’authentification suit les bonnes pratiques vues dans la zone « Auth » : jeton d’accès court gardé en mémoire, refresh token dans un cookie httpOnly avec rotation et détection de rejeu, mots de passe hachés avec Argon2id. La pause gèle le chrono mais masque la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côté éducatif ne doit pas faire oublier le jeu. On vise et on tire à la souris, on se déplace au clavier. Les ennemis explosent quand on les abat ; dans le dernier tiers du chrono, ils rougissent et foncent vers le joueur. Le boss final perd ses pointes et se fissure à chaque question réussie, et riposte quand on se trompe. Les effets sonores et la musique sont entièrement générés par le navigateur, sans aucun fichier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tests d’API vérifient toutes les règles côté serveur : authentification, tirs, bonus, pause, back-office, et même une partie complète de trente questions. Les tests de bout en bout jouent dans un vrai navigateur : inscription, tirs rapides, pénalités, pause, abandon, back-office. Ils ont déjà payé : en tirant très vite, un bonus « réponse retirée » pouvait faire perdre les tirs suivants. Le bug est corrigé et le test le surveille désormais.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commandes suffisent. La base PostgreSQL tourne dans Docker ; le seed charge les 71 questions et crée un compte administrateur pour le back-office. « npm run play » compile le jeu en version optimisée et lance l’API. Tant que la pull request n’est pas fusionnée, le travail est sur la branche claude/funny-lovelace-8uzk3u.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prochaines étapes visent la pédagogie : montrer en fin de partie les questions ratées avec leur explication, puis proposer un mode révision qui cible les erreurs de chacun, en s’appuyant sur les statistiques déjà enregistrées. Ensuite, enrichir le contenu et mettre le jeu en ligne. Merci, place aux questions… ou à une partie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820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3EFE6"/>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F3EFE6"/>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8202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3EFE6"/>
                </a:solidFill>
                <a:latin typeface="Oswald" pitchFamily="34" charset="0"/>
                <a:ea typeface="Oswald" pitchFamily="34" charset="-122"/>
                <a:cs typeface="Oswal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F3EFE6"/>
                </a:solidFill>
                <a:latin typeface="Rubik" pitchFamily="34" charset="0"/>
                <a:ea typeface="Rubik" pitchFamily="34" charset="-122"/>
                <a:cs typeface="Rubik"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1F"/>
        </a:solidFill>
      </p:bgPr>
    </p:bg>
    <p:spTree>
      <p:nvGrpSpPr>
        <p:cNvPr id="1" name=""/>
        <p:cNvGrpSpPr/>
        <p:nvPr/>
      </p:nvGrpSpPr>
      <p:grpSpPr>
        <a:xfrm>
          <a:off x="0" y="0"/>
          <a:ext cx="0" cy="0"/>
          <a:chOff x="0" y="0"/>
          <a:chExt cx="0" cy="0"/>
        </a:xfrm>
      </p:grpSpPr>
      <p:sp>
        <p:nvSpPr>
          <p:cNvPr id="2" name="Text 0"/>
          <p:cNvSpPr/>
          <p:nvPr/>
        </p:nvSpPr>
        <p:spPr>
          <a:xfrm>
            <a:off x="812800" y="1789430"/>
            <a:ext cx="4970780"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A45"/>
                </a:solidFill>
                <a:latin typeface="JetBrains Mono" pitchFamily="49" charset="0"/>
                <a:ea typeface="JetBrains Mono" pitchFamily="49" charset="-122"/>
                <a:cs typeface="JetBrains Mono" pitchFamily="49" charset="-120"/>
              </a:rPr>
              <a:t>FPS ÉDUCATIF · HTTP &amp; WEB</a:t>
            </a:r>
            <a:endParaRPr lang="en-US" sz="1400" dirty="0"/>
          </a:p>
        </p:txBody>
      </p:sp>
      <p:sp>
        <p:nvSpPr>
          <p:cNvPr id="3" name="Text 1"/>
          <p:cNvSpPr/>
          <p:nvPr>
            <p:ph type="title"/>
          </p:nvPr>
        </p:nvSpPr>
        <p:spPr>
          <a:xfrm>
            <a:off x="812800" y="2216150"/>
            <a:ext cx="4970780"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FF7A45"/>
                </a:solidFill>
                <a:latin typeface="Oswald" pitchFamily="34" charset="0"/>
                <a:ea typeface="Oswald" pitchFamily="34" charset="-122"/>
                <a:cs typeface="Oswald" pitchFamily="34" charset="-120"/>
              </a:rPr>
              <a:t>Pan !</a:t>
            </a:r>
            <a:endParaRPr lang="en-US" sz="10000" dirty="0"/>
          </a:p>
        </p:txBody>
      </p:sp>
      <p:sp>
        <p:nvSpPr>
          <p:cNvPr id="4" name="Text 2"/>
          <p:cNvSpPr/>
          <p:nvPr/>
        </p:nvSpPr>
        <p:spPr>
          <a:xfrm>
            <a:off x="812800" y="3663950"/>
            <a:ext cx="4970780" cy="612140"/>
          </a:xfrm>
          <a:prstGeom prst="rect">
            <a:avLst/>
          </a:prstGeom>
          <a:noFill/>
          <a:ln/>
        </p:spPr>
        <p:txBody>
          <a:bodyPr wrap="square" lIns="0" tIns="0" rIns="0" bIns="0" rtlCol="0" anchor="t">
            <a:normAutofit/>
          </a:bodyPr>
          <a:lstStyle/>
          <a:p>
            <a:pPr algn="l" indent="0" marL="0">
              <a:lnSpc>
                <a:spcPts val="4620"/>
              </a:lnSpc>
              <a:buNone/>
            </a:pPr>
            <a:r>
              <a:rPr lang="en-US" sz="4400" dirty="0">
                <a:solidFill>
                  <a:srgbClr val="F3EFE6"/>
                </a:solidFill>
                <a:latin typeface="Oswald" pitchFamily="34" charset="0"/>
                <a:ea typeface="Oswald" pitchFamily="34" charset="-122"/>
                <a:cs typeface="Oswald" pitchFamily="34" charset="-120"/>
              </a:rPr>
              <a:t>Mauvaise réponse</a:t>
            </a:r>
            <a:endParaRPr lang="en-US" sz="4400" dirty="0"/>
          </a:p>
        </p:txBody>
      </p:sp>
      <p:sp>
        <p:nvSpPr>
          <p:cNvPr id="5" name="Text 3"/>
          <p:cNvSpPr/>
          <p:nvPr/>
        </p:nvSpPr>
        <p:spPr>
          <a:xfrm>
            <a:off x="812800" y="4428490"/>
            <a:ext cx="497078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EB9CB"/>
                </a:solidFill>
                <a:latin typeface="Rubik" pitchFamily="34" charset="0"/>
                <a:ea typeface="Rubik" pitchFamily="34" charset="-122"/>
                <a:cs typeface="Rubik" pitchFamily="34" charset="-120"/>
              </a:rPr>
              <a:t>Abats les mauvaises réponses. Épargne la bonne.</a:t>
            </a:r>
            <a:endParaRPr lang="en-US" sz="1800" dirty="0"/>
          </a:p>
        </p:txBody>
      </p:sp>
      <p:pic>
        <p:nvPicPr>
          <p:cNvPr id="6" name="Image 0" descr="Capture du jeu : quatre ennemis portant chacun une réponse à la question « Un JSON syntaxiquement invalide arrive sur l’API, quel statut ? », avec l’arme du joueur au premier plan">    </p:cNvPr>
          <p:cNvPicPr>
            <a:picLocks noChangeAspect="1"/>
          </p:cNvPicPr>
          <p:nvPr/>
        </p:nvPicPr>
        <p:blipFill>
          <a:blip r:embed="rId1"/>
          <a:srcRect l="0" r="0" t="145" b="145"/>
          <a:stretch/>
        </p:blipFill>
        <p:spPr>
          <a:xfrm>
            <a:off x="6108700" y="1790700"/>
            <a:ext cx="5257800" cy="3276600"/>
          </a:xfrm>
          <a:prstGeom prst="roundRect">
            <a:avLst>
              <a:gd name="adj" fmla="val 4264"/>
            </a:avLst>
          </a:prstGeom>
          <a:effectLst>
            <a:outerShdw sx="100000" sy="100000" kx="0" ky="0" algn="bl" rotWithShape="0" blurRad="508000" dist="152400" dir="5400000">
              <a:srgbClr val="000000">
                <a:alpha val="50000"/>
              </a:srgbClr>
            </a:outerShdw>
          </a:effectLst>
        </p:spPr>
      </p:pic>
      <p:sp>
        <p:nvSpPr>
          <p:cNvPr id="7" name="Shape 4"/>
          <p:cNvSpPr/>
          <p:nvPr/>
        </p:nvSpPr>
        <p:spPr>
          <a:xfrm>
            <a:off x="6102350" y="1784350"/>
            <a:ext cx="5270500" cy="3289300"/>
          </a:xfrm>
          <a:prstGeom prst="roundRect">
            <a:avLst>
              <a:gd name="adj" fmla="val 4440"/>
            </a:avLst>
          </a:prstGeom>
          <a:noFill/>
          <a:ln w="12700">
            <a:solidFill>
              <a:srgbClr val="2A354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20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LE PRINCIPE</a:t>
            </a:r>
            <a:endParaRPr lang="en-US" sz="1200" dirty="0"/>
          </a:p>
        </p:txBody>
      </p:sp>
      <p:sp>
        <p:nvSpPr>
          <p:cNvPr id="3" name="Text 1"/>
          <p:cNvSpPr/>
          <p:nvPr>
            <p:ph type="title"/>
          </p:nvPr>
        </p:nvSpPr>
        <p:spPr>
          <a:xfrm>
            <a:off x="812800" y="11023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Une question, des cibles, un tir</a:t>
            </a:r>
            <a:endParaRPr lang="en-US" sz="3600" dirty="0"/>
          </a:p>
        </p:txBody>
      </p:sp>
      <p:sp>
        <p:nvSpPr>
          <p:cNvPr id="4" name="Shape 2"/>
          <p:cNvSpPr/>
          <p:nvPr/>
        </p:nvSpPr>
        <p:spPr>
          <a:xfrm>
            <a:off x="819150" y="1967230"/>
            <a:ext cx="3373914" cy="2413000"/>
          </a:xfrm>
          <a:prstGeom prst="roundRect">
            <a:avLst>
              <a:gd name="adj" fmla="val 5000"/>
            </a:avLst>
          </a:prstGeom>
          <a:solidFill>
            <a:srgbClr val="11161F"/>
          </a:solidFill>
          <a:ln w="12700">
            <a:solidFill>
              <a:srgbClr val="2A3547"/>
            </a:solidFill>
            <a:prstDash val="solid"/>
          </a:ln>
        </p:spPr>
      </p:sp>
      <p:sp>
        <p:nvSpPr>
          <p:cNvPr id="5" name="Text 3"/>
          <p:cNvSpPr/>
          <p:nvPr/>
        </p:nvSpPr>
        <p:spPr>
          <a:xfrm>
            <a:off x="1102360" y="2250440"/>
            <a:ext cx="289171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1</a:t>
            </a:r>
            <a:endParaRPr lang="en-US" sz="3600" dirty="0"/>
          </a:p>
        </p:txBody>
      </p:sp>
      <p:sp>
        <p:nvSpPr>
          <p:cNvPr id="6" name="Text 4"/>
          <p:cNvSpPr/>
          <p:nvPr/>
        </p:nvSpPr>
        <p:spPr>
          <a:xfrm>
            <a:off x="1102360" y="2834640"/>
            <a:ext cx="2891719"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Une question</a:t>
            </a:r>
            <a:endParaRPr lang="en-US" sz="2200" dirty="0"/>
          </a:p>
        </p:txBody>
      </p:sp>
      <p:sp>
        <p:nvSpPr>
          <p:cNvPr id="7" name="Text 5"/>
          <p:cNvSpPr/>
          <p:nvPr/>
        </p:nvSpPr>
        <p:spPr>
          <a:xfrm>
            <a:off x="1102360" y="3296920"/>
            <a:ext cx="289171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Sur HTTP, REST, CORS, l’authentification, les failles web ou le cache.</a:t>
            </a:r>
            <a:endParaRPr lang="en-US" sz="1500" dirty="0"/>
          </a:p>
        </p:txBody>
      </p:sp>
      <p:sp>
        <p:nvSpPr>
          <p:cNvPr id="8" name="Shape 6"/>
          <p:cNvSpPr/>
          <p:nvPr/>
        </p:nvSpPr>
        <p:spPr>
          <a:xfrm>
            <a:off x="4408964" y="1967230"/>
            <a:ext cx="3373993" cy="2413000"/>
          </a:xfrm>
          <a:prstGeom prst="roundRect">
            <a:avLst>
              <a:gd name="adj" fmla="val 5000"/>
            </a:avLst>
          </a:prstGeom>
          <a:solidFill>
            <a:srgbClr val="11161F"/>
          </a:solidFill>
          <a:ln w="12700">
            <a:solidFill>
              <a:srgbClr val="2A3547"/>
            </a:solidFill>
            <a:prstDash val="solid"/>
          </a:ln>
        </p:spPr>
      </p:sp>
      <p:sp>
        <p:nvSpPr>
          <p:cNvPr id="9" name="Text 7"/>
          <p:cNvSpPr/>
          <p:nvPr/>
        </p:nvSpPr>
        <p:spPr>
          <a:xfrm>
            <a:off x="4692174" y="2250440"/>
            <a:ext cx="28918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2</a:t>
            </a:r>
            <a:endParaRPr lang="en-US" sz="3600" dirty="0"/>
          </a:p>
        </p:txBody>
      </p:sp>
      <p:sp>
        <p:nvSpPr>
          <p:cNvPr id="10" name="Text 8"/>
          <p:cNvSpPr/>
          <p:nvPr/>
        </p:nvSpPr>
        <p:spPr>
          <a:xfrm>
            <a:off x="4692174" y="2834640"/>
            <a:ext cx="28918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Des cibles</a:t>
            </a:r>
            <a:endParaRPr lang="en-US" sz="2200" dirty="0"/>
          </a:p>
        </p:txBody>
      </p:sp>
      <p:sp>
        <p:nvSpPr>
          <p:cNvPr id="11" name="Text 9"/>
          <p:cNvSpPr/>
          <p:nvPr/>
        </p:nvSpPr>
        <p:spPr>
          <a:xfrm>
            <a:off x="4692174" y="3296920"/>
            <a:ext cx="28918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Chaque ennemi porte une réponse. Ils avancent au rythme du chrono.</a:t>
            </a:r>
            <a:endParaRPr lang="en-US" sz="1500" dirty="0"/>
          </a:p>
        </p:txBody>
      </p:sp>
      <p:sp>
        <p:nvSpPr>
          <p:cNvPr id="12" name="Shape 10"/>
          <p:cNvSpPr/>
          <p:nvPr/>
        </p:nvSpPr>
        <p:spPr>
          <a:xfrm>
            <a:off x="7998857" y="1967230"/>
            <a:ext cx="3373993" cy="2413000"/>
          </a:xfrm>
          <a:prstGeom prst="roundRect">
            <a:avLst>
              <a:gd name="adj" fmla="val 5000"/>
            </a:avLst>
          </a:prstGeom>
          <a:solidFill>
            <a:srgbClr val="11161F"/>
          </a:solidFill>
          <a:ln w="12700">
            <a:solidFill>
              <a:srgbClr val="2A3547"/>
            </a:solidFill>
            <a:prstDash val="solid"/>
          </a:ln>
        </p:spPr>
      </p:sp>
      <p:sp>
        <p:nvSpPr>
          <p:cNvPr id="13" name="Text 11"/>
          <p:cNvSpPr/>
          <p:nvPr/>
        </p:nvSpPr>
        <p:spPr>
          <a:xfrm>
            <a:off x="8282067" y="2250440"/>
            <a:ext cx="2891800"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3</a:t>
            </a:r>
            <a:endParaRPr lang="en-US" sz="3600" dirty="0"/>
          </a:p>
        </p:txBody>
      </p:sp>
      <p:sp>
        <p:nvSpPr>
          <p:cNvPr id="14" name="Text 12"/>
          <p:cNvSpPr/>
          <p:nvPr/>
        </p:nvSpPr>
        <p:spPr>
          <a:xfrm>
            <a:off x="8282067" y="2834640"/>
            <a:ext cx="28918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Un tir</a:t>
            </a:r>
            <a:endParaRPr lang="en-US" sz="2200" dirty="0"/>
          </a:p>
        </p:txBody>
      </p:sp>
      <p:sp>
        <p:nvSpPr>
          <p:cNvPr id="15" name="Text 13"/>
          <p:cNvSpPr/>
          <p:nvPr/>
        </p:nvSpPr>
        <p:spPr>
          <a:xfrm>
            <a:off x="8282067" y="3296920"/>
            <a:ext cx="28918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Abats toutes les mauvaises avant la fin du temps. Épargne la bonne.</a:t>
            </a:r>
            <a:endParaRPr lang="en-US" sz="1500" dirty="0"/>
          </a:p>
        </p:txBody>
      </p:sp>
      <p:sp>
        <p:nvSpPr>
          <p:cNvPr id="16" name="Text 14"/>
          <p:cNvSpPr/>
          <p:nvPr/>
        </p:nvSpPr>
        <p:spPr>
          <a:xfrm>
            <a:off x="819150" y="4748530"/>
            <a:ext cx="1809829" cy="459740"/>
          </a:xfrm>
          <a:prstGeom prst="roundRect">
            <a:avLst>
              <a:gd name="adj" fmla="val 50000"/>
            </a:avLst>
          </a:prstGeom>
          <a:solidFill>
            <a:srgbClr val="11161F"/>
          </a:solidFill>
          <a:ln w="12700">
            <a:solidFill>
              <a:srgbClr val="2A3547"/>
            </a:solidFill>
            <a:prstDash val="solid"/>
          </a:ln>
        </p:spPr>
        <p:txBody>
          <a:bodyPr wrap="none" lIns="0" tIns="0" rIns="0" bIns="0" rtlCol="0" anchor="ctr">
            <a:normAutofit/>
          </a:bodyPr>
          <a:lstStyle/>
          <a:p>
            <a:pPr algn="ctr" indent="0" marL="0">
              <a:lnSpc>
                <a:spcPts val="1960"/>
              </a:lnSpc>
              <a:buNone/>
            </a:pPr>
            <a:r>
              <a:rPr lang="en-US" sz="1400" b="1" dirty="0">
                <a:solidFill>
                  <a:srgbClr val="F3EFE6"/>
                </a:solidFill>
                <a:latin typeface="Rubik" pitchFamily="34" charset="0"/>
                <a:ea typeface="Rubik" pitchFamily="34" charset="-122"/>
                <a:cs typeface="Rubik" pitchFamily="34" charset="-120"/>
              </a:rPr>
              <a:t>100 PV</a:t>
            </a:r>
            <a:r>
              <a:rPr lang="en-US" sz="1400" dirty="0">
                <a:solidFill>
                  <a:srgbClr val="F3EFE6"/>
                </a:solidFill>
                <a:latin typeface="Rubik" pitchFamily="34" charset="0"/>
                <a:ea typeface="Rubik" pitchFamily="34" charset="-122"/>
                <a:cs typeface="Rubik" pitchFamily="34" charset="-120"/>
              </a:rPr>
              <a:t> au départ</a:t>
            </a:r>
            <a:endParaRPr lang="en-US" sz="1400" dirty="0"/>
          </a:p>
        </p:txBody>
      </p:sp>
      <p:sp>
        <p:nvSpPr>
          <p:cNvPr id="17" name="Text 15"/>
          <p:cNvSpPr/>
          <p:nvPr/>
        </p:nvSpPr>
        <p:spPr>
          <a:xfrm>
            <a:off x="2794079" y="4748530"/>
            <a:ext cx="3555841" cy="459740"/>
          </a:xfrm>
          <a:prstGeom prst="roundRect">
            <a:avLst>
              <a:gd name="adj" fmla="val 50000"/>
            </a:avLst>
          </a:prstGeom>
          <a:solidFill>
            <a:srgbClr val="11161F"/>
          </a:solidFill>
          <a:ln w="12700">
            <a:solidFill>
              <a:srgbClr val="FF7A45"/>
            </a:solidFill>
            <a:prstDash val="solid"/>
          </a:ln>
        </p:spPr>
        <p:txBody>
          <a:bodyPr wrap="none" lIns="0" tIns="0" rIns="0" bIns="0" rtlCol="0" anchor="ctr">
            <a:normAutofit/>
          </a:bodyPr>
          <a:lstStyle/>
          <a:p>
            <a:pPr algn="ctr" indent="0" marL="0">
              <a:lnSpc>
                <a:spcPts val="1960"/>
              </a:lnSpc>
              <a:buNone/>
            </a:pPr>
            <a:r>
              <a:rPr lang="en-US" sz="1400" b="1" dirty="0">
                <a:solidFill>
                  <a:srgbClr val="FF7A45"/>
                </a:solidFill>
                <a:latin typeface="Rubik" pitchFamily="34" charset="0"/>
                <a:ea typeface="Rubik" pitchFamily="34" charset="-122"/>
                <a:cs typeface="Rubik" pitchFamily="34" charset="-120"/>
              </a:rPr>
              <a:t>−25 PV</a:t>
            </a:r>
            <a:r>
              <a:rPr lang="en-US" sz="1400" dirty="0">
                <a:solidFill>
                  <a:srgbClr val="F3EFE6"/>
                </a:solidFill>
                <a:latin typeface="Rubik" pitchFamily="34" charset="0"/>
                <a:ea typeface="Rubik" pitchFamily="34" charset="-122"/>
                <a:cs typeface="Rubik" pitchFamily="34" charset="-120"/>
              </a:rPr>
              <a:t> si tu touches la bonne réponse</a:t>
            </a:r>
            <a:endParaRPr lang="en-US" sz="1400" dirty="0"/>
          </a:p>
        </p:txBody>
      </p:sp>
      <p:sp>
        <p:nvSpPr>
          <p:cNvPr id="18" name="Text 16"/>
          <p:cNvSpPr/>
          <p:nvPr/>
        </p:nvSpPr>
        <p:spPr>
          <a:xfrm>
            <a:off x="6515021" y="4748530"/>
            <a:ext cx="2529523" cy="459740"/>
          </a:xfrm>
          <a:prstGeom prst="roundRect">
            <a:avLst>
              <a:gd name="adj" fmla="val 50000"/>
            </a:avLst>
          </a:prstGeom>
          <a:solidFill>
            <a:srgbClr val="11161F"/>
          </a:solidFill>
          <a:ln w="12700">
            <a:solidFill>
              <a:srgbClr val="FF7A45"/>
            </a:solidFill>
            <a:prstDash val="solid"/>
          </a:ln>
        </p:spPr>
        <p:txBody>
          <a:bodyPr wrap="none" lIns="0" tIns="0" rIns="0" bIns="0" rtlCol="0" anchor="ctr">
            <a:normAutofit/>
          </a:bodyPr>
          <a:lstStyle/>
          <a:p>
            <a:pPr algn="ctr" indent="0" marL="0">
              <a:lnSpc>
                <a:spcPts val="1960"/>
              </a:lnSpc>
              <a:buNone/>
            </a:pPr>
            <a:r>
              <a:rPr lang="en-US" sz="1400" b="1" dirty="0">
                <a:solidFill>
                  <a:srgbClr val="FF7A45"/>
                </a:solidFill>
                <a:latin typeface="Rubik" pitchFamily="34" charset="0"/>
                <a:ea typeface="Rubik" pitchFamily="34" charset="-122"/>
                <a:cs typeface="Rubik" pitchFamily="34" charset="-120"/>
              </a:rPr>
              <a:t>−20 PV</a:t>
            </a:r>
            <a:r>
              <a:rPr lang="en-US" sz="1400" dirty="0">
                <a:solidFill>
                  <a:srgbClr val="F3EFE6"/>
                </a:solidFill>
                <a:latin typeface="Rubik" pitchFamily="34" charset="0"/>
                <a:ea typeface="Rubik" pitchFamily="34" charset="-122"/>
                <a:cs typeface="Rubik" pitchFamily="34" charset="-120"/>
              </a:rPr>
              <a:t> si le chrono expire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LE PARCOURS</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Six zones, puis le boss final</a:t>
            </a:r>
            <a:endParaRPr lang="en-US" sz="3600" dirty="0"/>
          </a:p>
        </p:txBody>
      </p:sp>
      <p:sp>
        <p:nvSpPr>
          <p:cNvPr id="4" name="Shape 2"/>
          <p:cNvSpPr/>
          <p:nvPr/>
        </p:nvSpPr>
        <p:spPr>
          <a:xfrm>
            <a:off x="812800" y="1960880"/>
            <a:ext cx="1422400" cy="1503680"/>
          </a:xfrm>
          <a:prstGeom prst="roundRect">
            <a:avLst>
              <a:gd name="adj" fmla="val 7143"/>
            </a:avLst>
          </a:prstGeom>
          <a:solidFill>
            <a:srgbClr val="18202D"/>
          </a:solidFill>
          <a:ln/>
        </p:spPr>
      </p:sp>
      <p:sp>
        <p:nvSpPr>
          <p:cNvPr id="5" name="Shape 3"/>
          <p:cNvSpPr/>
          <p:nvPr/>
        </p:nvSpPr>
        <p:spPr>
          <a:xfrm>
            <a:off x="812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6" name="Text 4"/>
          <p:cNvSpPr/>
          <p:nvPr/>
        </p:nvSpPr>
        <p:spPr>
          <a:xfrm>
            <a:off x="990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1</a:t>
            </a:r>
            <a:endParaRPr lang="en-US" sz="1200" dirty="0"/>
          </a:p>
        </p:txBody>
      </p:sp>
      <p:sp>
        <p:nvSpPr>
          <p:cNvPr id="7" name="Text 5"/>
          <p:cNvSpPr/>
          <p:nvPr/>
        </p:nvSpPr>
        <p:spPr>
          <a:xfrm>
            <a:off x="990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HTTP</a:t>
            </a:r>
            <a:endParaRPr lang="en-US" sz="2200" dirty="0"/>
          </a:p>
        </p:txBody>
      </p:sp>
      <p:sp>
        <p:nvSpPr>
          <p:cNvPr id="8" name="Text 6"/>
          <p:cNvSpPr/>
          <p:nvPr/>
        </p:nvSpPr>
        <p:spPr>
          <a:xfrm>
            <a:off x="990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Méthodes et statuts</a:t>
            </a:r>
            <a:endParaRPr lang="en-US" sz="1200" dirty="0"/>
          </a:p>
        </p:txBody>
      </p:sp>
      <p:sp>
        <p:nvSpPr>
          <p:cNvPr id="9" name="Shape 7"/>
          <p:cNvSpPr/>
          <p:nvPr/>
        </p:nvSpPr>
        <p:spPr>
          <a:xfrm>
            <a:off x="2336800" y="1960880"/>
            <a:ext cx="1422400" cy="1503680"/>
          </a:xfrm>
          <a:prstGeom prst="roundRect">
            <a:avLst>
              <a:gd name="adj" fmla="val 7143"/>
            </a:avLst>
          </a:prstGeom>
          <a:solidFill>
            <a:srgbClr val="18202D"/>
          </a:solidFill>
          <a:ln/>
        </p:spPr>
      </p:sp>
      <p:sp>
        <p:nvSpPr>
          <p:cNvPr id="10" name="Shape 8"/>
          <p:cNvSpPr/>
          <p:nvPr/>
        </p:nvSpPr>
        <p:spPr>
          <a:xfrm>
            <a:off x="2336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11" name="Text 9"/>
          <p:cNvSpPr/>
          <p:nvPr/>
        </p:nvSpPr>
        <p:spPr>
          <a:xfrm>
            <a:off x="2514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2</a:t>
            </a:r>
            <a:endParaRPr lang="en-US" sz="1200" dirty="0"/>
          </a:p>
        </p:txBody>
      </p:sp>
      <p:sp>
        <p:nvSpPr>
          <p:cNvPr id="12" name="Text 10"/>
          <p:cNvSpPr/>
          <p:nvPr/>
        </p:nvSpPr>
        <p:spPr>
          <a:xfrm>
            <a:off x="2514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REST</a:t>
            </a:r>
            <a:endParaRPr lang="en-US" sz="2200" dirty="0"/>
          </a:p>
        </p:txBody>
      </p:sp>
      <p:sp>
        <p:nvSpPr>
          <p:cNvPr id="13" name="Text 11"/>
          <p:cNvSpPr/>
          <p:nvPr/>
        </p:nvSpPr>
        <p:spPr>
          <a:xfrm>
            <a:off x="2514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Ressources et idempotence</a:t>
            </a:r>
            <a:endParaRPr lang="en-US" sz="1200" dirty="0"/>
          </a:p>
        </p:txBody>
      </p:sp>
      <p:sp>
        <p:nvSpPr>
          <p:cNvPr id="14" name="Shape 12"/>
          <p:cNvSpPr/>
          <p:nvPr/>
        </p:nvSpPr>
        <p:spPr>
          <a:xfrm>
            <a:off x="3860800" y="1960880"/>
            <a:ext cx="1422400" cy="1503680"/>
          </a:xfrm>
          <a:prstGeom prst="roundRect">
            <a:avLst>
              <a:gd name="adj" fmla="val 7143"/>
            </a:avLst>
          </a:prstGeom>
          <a:solidFill>
            <a:srgbClr val="18202D"/>
          </a:solidFill>
          <a:ln/>
        </p:spPr>
      </p:sp>
      <p:sp>
        <p:nvSpPr>
          <p:cNvPr id="15" name="Shape 13"/>
          <p:cNvSpPr/>
          <p:nvPr/>
        </p:nvSpPr>
        <p:spPr>
          <a:xfrm>
            <a:off x="3860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16" name="Text 14"/>
          <p:cNvSpPr/>
          <p:nvPr/>
        </p:nvSpPr>
        <p:spPr>
          <a:xfrm>
            <a:off x="4038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3</a:t>
            </a:r>
            <a:endParaRPr lang="en-US" sz="1200" dirty="0"/>
          </a:p>
        </p:txBody>
      </p:sp>
      <p:sp>
        <p:nvSpPr>
          <p:cNvPr id="17" name="Text 15"/>
          <p:cNvSpPr/>
          <p:nvPr/>
        </p:nvSpPr>
        <p:spPr>
          <a:xfrm>
            <a:off x="4038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CORS</a:t>
            </a:r>
            <a:endParaRPr lang="en-US" sz="2200" dirty="0"/>
          </a:p>
        </p:txBody>
      </p:sp>
      <p:sp>
        <p:nvSpPr>
          <p:cNvPr id="18" name="Text 16"/>
          <p:cNvSpPr/>
          <p:nvPr/>
        </p:nvSpPr>
        <p:spPr>
          <a:xfrm>
            <a:off x="4038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Same-origin et preflight</a:t>
            </a:r>
            <a:endParaRPr lang="en-US" sz="1200" dirty="0"/>
          </a:p>
        </p:txBody>
      </p:sp>
      <p:sp>
        <p:nvSpPr>
          <p:cNvPr id="19" name="Shape 17"/>
          <p:cNvSpPr/>
          <p:nvPr/>
        </p:nvSpPr>
        <p:spPr>
          <a:xfrm>
            <a:off x="5384800" y="1960880"/>
            <a:ext cx="1422400" cy="1503680"/>
          </a:xfrm>
          <a:prstGeom prst="roundRect">
            <a:avLst>
              <a:gd name="adj" fmla="val 7143"/>
            </a:avLst>
          </a:prstGeom>
          <a:solidFill>
            <a:srgbClr val="18202D"/>
          </a:solidFill>
          <a:ln/>
        </p:spPr>
      </p:sp>
      <p:sp>
        <p:nvSpPr>
          <p:cNvPr id="20" name="Shape 18"/>
          <p:cNvSpPr/>
          <p:nvPr/>
        </p:nvSpPr>
        <p:spPr>
          <a:xfrm>
            <a:off x="5384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21" name="Text 19"/>
          <p:cNvSpPr/>
          <p:nvPr/>
        </p:nvSpPr>
        <p:spPr>
          <a:xfrm>
            <a:off x="5562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4</a:t>
            </a:r>
            <a:endParaRPr lang="en-US" sz="1200" dirty="0"/>
          </a:p>
        </p:txBody>
      </p:sp>
      <p:sp>
        <p:nvSpPr>
          <p:cNvPr id="22" name="Text 20"/>
          <p:cNvSpPr/>
          <p:nvPr/>
        </p:nvSpPr>
        <p:spPr>
          <a:xfrm>
            <a:off x="5562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Auth</a:t>
            </a:r>
            <a:endParaRPr lang="en-US" sz="2200" dirty="0"/>
          </a:p>
        </p:txBody>
      </p:sp>
      <p:sp>
        <p:nvSpPr>
          <p:cNvPr id="23" name="Text 21"/>
          <p:cNvSpPr/>
          <p:nvPr/>
        </p:nvSpPr>
        <p:spPr>
          <a:xfrm>
            <a:off x="5562600" y="2875280"/>
            <a:ext cx="12446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JWT et cookies</a:t>
            </a:r>
            <a:endParaRPr lang="en-US" sz="1200" dirty="0"/>
          </a:p>
        </p:txBody>
      </p:sp>
      <p:sp>
        <p:nvSpPr>
          <p:cNvPr id="24" name="Shape 22"/>
          <p:cNvSpPr/>
          <p:nvPr/>
        </p:nvSpPr>
        <p:spPr>
          <a:xfrm>
            <a:off x="6908800" y="1960880"/>
            <a:ext cx="1422400" cy="1503680"/>
          </a:xfrm>
          <a:prstGeom prst="roundRect">
            <a:avLst>
              <a:gd name="adj" fmla="val 7143"/>
            </a:avLst>
          </a:prstGeom>
          <a:solidFill>
            <a:srgbClr val="18202D"/>
          </a:solidFill>
          <a:ln/>
        </p:spPr>
      </p:sp>
      <p:sp>
        <p:nvSpPr>
          <p:cNvPr id="25" name="Shape 23"/>
          <p:cNvSpPr/>
          <p:nvPr/>
        </p:nvSpPr>
        <p:spPr>
          <a:xfrm>
            <a:off x="6908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26" name="Text 24"/>
          <p:cNvSpPr/>
          <p:nvPr/>
        </p:nvSpPr>
        <p:spPr>
          <a:xfrm>
            <a:off x="7086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5</a:t>
            </a:r>
            <a:endParaRPr lang="en-US" sz="1200" dirty="0"/>
          </a:p>
        </p:txBody>
      </p:sp>
      <p:sp>
        <p:nvSpPr>
          <p:cNvPr id="27" name="Text 25"/>
          <p:cNvSpPr/>
          <p:nvPr/>
        </p:nvSpPr>
        <p:spPr>
          <a:xfrm>
            <a:off x="7086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Failles</a:t>
            </a:r>
            <a:endParaRPr lang="en-US" sz="2200" dirty="0"/>
          </a:p>
        </p:txBody>
      </p:sp>
      <p:sp>
        <p:nvSpPr>
          <p:cNvPr id="28" name="Text 26"/>
          <p:cNvSpPr/>
          <p:nvPr/>
        </p:nvSpPr>
        <p:spPr>
          <a:xfrm>
            <a:off x="7086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XSS, CSRF, injection</a:t>
            </a:r>
            <a:endParaRPr lang="en-US" sz="1200" dirty="0"/>
          </a:p>
        </p:txBody>
      </p:sp>
      <p:sp>
        <p:nvSpPr>
          <p:cNvPr id="29" name="Shape 27"/>
          <p:cNvSpPr/>
          <p:nvPr/>
        </p:nvSpPr>
        <p:spPr>
          <a:xfrm>
            <a:off x="8432800" y="1960880"/>
            <a:ext cx="1422400" cy="1503680"/>
          </a:xfrm>
          <a:prstGeom prst="roundRect">
            <a:avLst>
              <a:gd name="adj" fmla="val 7143"/>
            </a:avLst>
          </a:prstGeom>
          <a:solidFill>
            <a:srgbClr val="18202D"/>
          </a:solidFill>
          <a:ln/>
        </p:spPr>
      </p:sp>
      <p:sp>
        <p:nvSpPr>
          <p:cNvPr id="30" name="Shape 28"/>
          <p:cNvSpPr/>
          <p:nvPr/>
        </p:nvSpPr>
        <p:spPr>
          <a:xfrm>
            <a:off x="8432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31" name="Text 29"/>
          <p:cNvSpPr/>
          <p:nvPr/>
        </p:nvSpPr>
        <p:spPr>
          <a:xfrm>
            <a:off x="8610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Zone 6</a:t>
            </a:r>
            <a:endParaRPr lang="en-US" sz="1200" dirty="0"/>
          </a:p>
        </p:txBody>
      </p:sp>
      <p:sp>
        <p:nvSpPr>
          <p:cNvPr id="32" name="Text 30"/>
          <p:cNvSpPr/>
          <p:nvPr/>
        </p:nvSpPr>
        <p:spPr>
          <a:xfrm>
            <a:off x="8610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Cache</a:t>
            </a:r>
            <a:endParaRPr lang="en-US" sz="2200" dirty="0"/>
          </a:p>
        </p:txBody>
      </p:sp>
      <p:sp>
        <p:nvSpPr>
          <p:cNvPr id="33" name="Text 31"/>
          <p:cNvSpPr/>
          <p:nvPr/>
        </p:nvSpPr>
        <p:spPr>
          <a:xfrm>
            <a:off x="8610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EB9CB"/>
                </a:solidFill>
                <a:latin typeface="Rubik" pitchFamily="34" charset="0"/>
                <a:ea typeface="Rubik" pitchFamily="34" charset="-122"/>
                <a:cs typeface="Rubik" pitchFamily="34" charset="-120"/>
              </a:rPr>
              <a:t>Fraîcheur et validateurs</a:t>
            </a:r>
            <a:endParaRPr lang="en-US" sz="1200" dirty="0"/>
          </a:p>
        </p:txBody>
      </p:sp>
      <p:sp>
        <p:nvSpPr>
          <p:cNvPr id="34" name="Shape 32"/>
          <p:cNvSpPr/>
          <p:nvPr/>
        </p:nvSpPr>
        <p:spPr>
          <a:xfrm>
            <a:off x="9956800" y="1960880"/>
            <a:ext cx="1422400" cy="1503680"/>
          </a:xfrm>
          <a:prstGeom prst="roundRect">
            <a:avLst>
              <a:gd name="adj" fmla="val 7143"/>
            </a:avLst>
          </a:prstGeom>
          <a:solidFill>
            <a:srgbClr val="FF7A45"/>
          </a:solidFill>
          <a:ln/>
        </p:spPr>
      </p:sp>
      <p:sp>
        <p:nvSpPr>
          <p:cNvPr id="35" name="Shape 33"/>
          <p:cNvSpPr/>
          <p:nvPr/>
        </p:nvSpPr>
        <p:spPr>
          <a:xfrm>
            <a:off x="9956800" y="1960880"/>
            <a:ext cx="1422400" cy="1503680"/>
          </a:xfrm>
          <a:custGeom>
            <a:avLst/>
            <a:gdLst/>
            <a:ahLst/>
            <a:cxnLst/>
            <a:rect l="l" t="t" r="r" b="b"/>
            <a:pathLst>
              <a:path w="1422400" h="1503680">
                <a:moveTo>
                  <a:pt x="0" y="101600"/>
                </a:moveTo>
                <a:lnTo>
                  <a:pt x="0" y="101600"/>
                </a:lnTo>
                <a:arcTo hR="101600" wR="101600" stAng="10800000" swAng="5400000"/>
                <a:lnTo>
                  <a:pt x="1320800" y="0"/>
                </a:lnTo>
                <a:arcTo hR="101600" wR="101600" stAng="16200000" swAng="5400000"/>
                <a:lnTo>
                  <a:pt x="1422400" y="101600"/>
                </a:lnTo>
                <a:arcTo hR="63500" wR="101600" stAng="0" swAng="-5400000"/>
                <a:lnTo>
                  <a:pt x="101600" y="38100"/>
                </a:lnTo>
                <a:arcTo hR="63500" wR="101600" stAng="16200000" swAng="-5400000"/>
                <a:close/>
              </a:path>
            </a:pathLst>
          </a:custGeom>
          <a:solidFill>
            <a:srgbClr val="FF7A45"/>
          </a:solidFill>
          <a:ln/>
        </p:spPr>
      </p:sp>
      <p:sp>
        <p:nvSpPr>
          <p:cNvPr id="36" name="Text 34"/>
          <p:cNvSpPr/>
          <p:nvPr/>
        </p:nvSpPr>
        <p:spPr>
          <a:xfrm>
            <a:off x="10134600" y="2174241"/>
            <a:ext cx="1117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61F"/>
                </a:solidFill>
                <a:latin typeface="JetBrains Mono" pitchFamily="49" charset="0"/>
                <a:ea typeface="JetBrains Mono" pitchFamily="49" charset="-122"/>
                <a:cs typeface="JetBrains Mono" pitchFamily="49" charset="-120"/>
              </a:rPr>
              <a:t>Finale</a:t>
            </a:r>
            <a:endParaRPr lang="en-US" sz="1200" dirty="0"/>
          </a:p>
        </p:txBody>
      </p:sp>
      <p:sp>
        <p:nvSpPr>
          <p:cNvPr id="37" name="Text 35"/>
          <p:cNvSpPr/>
          <p:nvPr/>
        </p:nvSpPr>
        <p:spPr>
          <a:xfrm>
            <a:off x="10134600" y="2463800"/>
            <a:ext cx="111760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61F"/>
                </a:solidFill>
                <a:latin typeface="Oswald" pitchFamily="34" charset="0"/>
                <a:ea typeface="Oswald" pitchFamily="34" charset="-122"/>
                <a:cs typeface="Oswald" pitchFamily="34" charset="-120"/>
              </a:rPr>
              <a:t>Boss</a:t>
            </a:r>
            <a:endParaRPr lang="en-US" sz="2200" dirty="0"/>
          </a:p>
        </p:txBody>
      </p:sp>
      <p:sp>
        <p:nvSpPr>
          <p:cNvPr id="38" name="Text 36"/>
          <p:cNvSpPr/>
          <p:nvPr/>
        </p:nvSpPr>
        <p:spPr>
          <a:xfrm>
            <a:off x="10134600" y="2875280"/>
            <a:ext cx="11176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1161F"/>
                </a:solidFill>
                <a:latin typeface="Rubik" pitchFamily="34" charset="0"/>
                <a:ea typeface="Rubik" pitchFamily="34" charset="-122"/>
                <a:cs typeface="Rubik" pitchFamily="34" charset="-120"/>
              </a:rPr>
              <a:t>6 questions, tous thèmes</a:t>
            </a:r>
            <a:endParaRPr lang="en-US" sz="1200" dirty="0"/>
          </a:p>
        </p:txBody>
      </p:sp>
      <p:sp>
        <p:nvSpPr>
          <p:cNvPr id="39" name="Text 37"/>
          <p:cNvSpPr/>
          <p:nvPr/>
        </p:nvSpPr>
        <p:spPr>
          <a:xfrm>
            <a:off x="812800" y="38201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30</a:t>
            </a:r>
            <a:endParaRPr lang="en-US" sz="3600" dirty="0"/>
          </a:p>
        </p:txBody>
      </p:sp>
      <p:sp>
        <p:nvSpPr>
          <p:cNvPr id="40" name="Text 38"/>
          <p:cNvSpPr/>
          <p:nvPr/>
        </p:nvSpPr>
        <p:spPr>
          <a:xfrm>
            <a:off x="812800" y="4328161"/>
            <a:ext cx="334873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questions par partie : 4 par zone, puis 6 pour le boss</a:t>
            </a:r>
            <a:endParaRPr lang="en-US" sz="1400" dirty="0"/>
          </a:p>
        </p:txBody>
      </p:sp>
      <p:sp>
        <p:nvSpPr>
          <p:cNvPr id="41" name="Text 39"/>
          <p:cNvSpPr/>
          <p:nvPr/>
        </p:nvSpPr>
        <p:spPr>
          <a:xfrm>
            <a:off x="4470400" y="38201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71</a:t>
            </a:r>
            <a:endParaRPr lang="en-US" sz="3600" dirty="0"/>
          </a:p>
        </p:txBody>
      </p:sp>
      <p:sp>
        <p:nvSpPr>
          <p:cNvPr id="42" name="Text 40"/>
          <p:cNvSpPr/>
          <p:nvPr/>
        </p:nvSpPr>
        <p:spPr>
          <a:xfrm>
            <a:off x="4470400" y="4328161"/>
            <a:ext cx="334873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questions au total, tirées au hasard par le serveur</a:t>
            </a:r>
            <a:endParaRPr lang="en-US" sz="1400" dirty="0"/>
          </a:p>
        </p:txBody>
      </p:sp>
      <p:sp>
        <p:nvSpPr>
          <p:cNvPr id="43" name="Text 41"/>
          <p:cNvSpPr/>
          <p:nvPr/>
        </p:nvSpPr>
        <p:spPr>
          <a:xfrm>
            <a:off x="8128000" y="3820161"/>
            <a:ext cx="3348736"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F7A45"/>
                </a:solidFill>
                <a:latin typeface="Oswald" pitchFamily="34" charset="0"/>
                <a:ea typeface="Oswald" pitchFamily="34" charset="-122"/>
                <a:cs typeface="Oswald" pitchFamily="34" charset="-120"/>
              </a:rPr>
              <a:t>7</a:t>
            </a:r>
            <a:endParaRPr lang="en-US" sz="3600" dirty="0"/>
          </a:p>
        </p:txBody>
      </p:sp>
      <p:sp>
        <p:nvSpPr>
          <p:cNvPr id="44" name="Text 42"/>
          <p:cNvSpPr/>
          <p:nvPr/>
        </p:nvSpPr>
        <p:spPr>
          <a:xfrm>
            <a:off x="8128000" y="4328161"/>
            <a:ext cx="334873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décors et musiques, un par zone et un pour le boss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20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LE SCORE</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La vitesse et la régularité paient</a:t>
            </a:r>
            <a:endParaRPr lang="en-US" sz="3600" dirty="0"/>
          </a:p>
        </p:txBody>
      </p:sp>
      <p:sp>
        <p:nvSpPr>
          <p:cNvPr id="4" name="Text 2"/>
          <p:cNvSpPr/>
          <p:nvPr/>
        </p:nvSpPr>
        <p:spPr>
          <a:xfrm>
            <a:off x="819150" y="1967230"/>
            <a:ext cx="10553700" cy="962660"/>
          </a:xfrm>
          <a:prstGeom prst="roundRect">
            <a:avLst>
              <a:gd name="adj" fmla="val 12533"/>
            </a:avLst>
          </a:prstGeom>
          <a:solidFill>
            <a:srgbClr val="11161F"/>
          </a:solidFill>
          <a:ln w="12700">
            <a:solidFill>
              <a:srgbClr val="2A3547"/>
            </a:solidFill>
            <a:prstDash val="solid"/>
          </a:ln>
        </p:spPr>
        <p:txBody>
          <a:bodyPr wrap="square" lIns="124226" tIns="197073" rIns="124226" bIns="171673" rtlCol="0" anchor="t">
            <a:normAutofit/>
          </a:bodyPr>
          <a:lstStyle/>
          <a:p>
            <a:pPr algn="ctr" indent="0" marL="0">
              <a:lnSpc>
                <a:spcPts val="3920"/>
              </a:lnSpc>
              <a:buNone/>
            </a:pPr>
            <a:r>
              <a:rPr lang="en-US" sz="2800" b="1" dirty="0">
                <a:solidFill>
                  <a:srgbClr val="F3EFE6"/>
                </a:solidFill>
                <a:latin typeface="JetBrains Mono" pitchFamily="49" charset="0"/>
                <a:ea typeface="JetBrains Mono" pitchFamily="49" charset="-122"/>
                <a:cs typeface="JetBrains Mono" pitchFamily="49" charset="-120"/>
              </a:rPr>
              <a:t>points = base </a:t>
            </a:r>
            <a:r>
              <a:rPr lang="en-US" sz="2800" b="1" dirty="0">
                <a:solidFill>
                  <a:srgbClr val="FF7A45"/>
                </a:solidFill>
                <a:latin typeface="JetBrains Mono" pitchFamily="49" charset="0"/>
                <a:ea typeface="JetBrains Mono" pitchFamily="49" charset="-122"/>
                <a:cs typeface="JetBrains Mono" pitchFamily="49" charset="-120"/>
              </a:rPr>
              <a:t>×</a:t>
            </a:r>
            <a:r>
              <a:rPr lang="en-US" sz="2800" b="1" dirty="0">
                <a:solidFill>
                  <a:srgbClr val="F3EFE6"/>
                </a:solidFill>
                <a:latin typeface="JetBrains Mono" pitchFamily="49" charset="0"/>
                <a:ea typeface="JetBrains Mono" pitchFamily="49" charset="-122"/>
                <a:cs typeface="JetBrains Mono" pitchFamily="49" charset="-120"/>
              </a:rPr>
              <a:t> combo </a:t>
            </a:r>
            <a:r>
              <a:rPr lang="en-US" sz="2800" b="1" dirty="0">
                <a:solidFill>
                  <a:srgbClr val="FF7A45"/>
                </a:solidFill>
                <a:latin typeface="JetBrains Mono" pitchFamily="49" charset="0"/>
                <a:ea typeface="JetBrains Mono" pitchFamily="49" charset="-122"/>
                <a:cs typeface="JetBrains Mono" pitchFamily="49" charset="-120"/>
              </a:rPr>
              <a:t>×</a:t>
            </a:r>
            <a:r>
              <a:rPr lang="en-US" sz="2800" b="1" dirty="0">
                <a:solidFill>
                  <a:srgbClr val="F3EFE6"/>
                </a:solidFill>
                <a:latin typeface="JetBrains Mono" pitchFamily="49" charset="0"/>
                <a:ea typeface="JetBrains Mono" pitchFamily="49" charset="-122"/>
                <a:cs typeface="JetBrains Mono" pitchFamily="49" charset="-120"/>
              </a:rPr>
              <a:t> vitesse</a:t>
            </a:r>
            <a:endParaRPr lang="en-US" sz="2800" dirty="0"/>
          </a:p>
        </p:txBody>
      </p:sp>
      <p:sp>
        <p:nvSpPr>
          <p:cNvPr id="5" name="Shape 3"/>
          <p:cNvSpPr/>
          <p:nvPr/>
        </p:nvSpPr>
        <p:spPr>
          <a:xfrm>
            <a:off x="819150" y="3298191"/>
            <a:ext cx="3373914" cy="1752600"/>
          </a:xfrm>
          <a:prstGeom prst="roundRect">
            <a:avLst>
              <a:gd name="adj" fmla="val 6884"/>
            </a:avLst>
          </a:prstGeom>
          <a:solidFill>
            <a:srgbClr val="11161F"/>
          </a:solidFill>
          <a:ln w="12700">
            <a:solidFill>
              <a:srgbClr val="2A3547"/>
            </a:solidFill>
            <a:prstDash val="solid"/>
          </a:ln>
        </p:spPr>
      </p:sp>
      <p:sp>
        <p:nvSpPr>
          <p:cNvPr id="6" name="Text 4"/>
          <p:cNvSpPr/>
          <p:nvPr/>
        </p:nvSpPr>
        <p:spPr>
          <a:xfrm>
            <a:off x="1076960" y="3556000"/>
            <a:ext cx="2944043"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F7A45"/>
                </a:solidFill>
                <a:latin typeface="Oswald" pitchFamily="34" charset="0"/>
                <a:ea typeface="Oswald" pitchFamily="34" charset="-122"/>
                <a:cs typeface="Oswald" pitchFamily="34" charset="-120"/>
              </a:rPr>
              <a:t>Combo jusqu’à ×4</a:t>
            </a:r>
            <a:endParaRPr lang="en-US" sz="2200" dirty="0"/>
          </a:p>
        </p:txBody>
      </p:sp>
      <p:sp>
        <p:nvSpPr>
          <p:cNvPr id="7" name="Text 5"/>
          <p:cNvSpPr/>
          <p:nvPr/>
        </p:nvSpPr>
        <p:spPr>
          <a:xfrm>
            <a:off x="1076960" y="3992880"/>
            <a:ext cx="29440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+0,25 par réussite d’affilée. Une erreur le fait retomber à ×1.</a:t>
            </a:r>
            <a:endParaRPr lang="en-US" sz="1500" dirty="0"/>
          </a:p>
        </p:txBody>
      </p:sp>
      <p:sp>
        <p:nvSpPr>
          <p:cNvPr id="8" name="Shape 6"/>
          <p:cNvSpPr/>
          <p:nvPr/>
        </p:nvSpPr>
        <p:spPr>
          <a:xfrm>
            <a:off x="4408964" y="3298191"/>
            <a:ext cx="3373993" cy="1752600"/>
          </a:xfrm>
          <a:prstGeom prst="roundRect">
            <a:avLst>
              <a:gd name="adj" fmla="val 6884"/>
            </a:avLst>
          </a:prstGeom>
          <a:solidFill>
            <a:srgbClr val="11161F"/>
          </a:solidFill>
          <a:ln w="12700">
            <a:solidFill>
              <a:srgbClr val="2A3547"/>
            </a:solidFill>
            <a:prstDash val="solid"/>
          </a:ln>
        </p:spPr>
      </p:sp>
      <p:sp>
        <p:nvSpPr>
          <p:cNvPr id="9" name="Text 7"/>
          <p:cNvSpPr/>
          <p:nvPr/>
        </p:nvSpPr>
        <p:spPr>
          <a:xfrm>
            <a:off x="4666774" y="3556000"/>
            <a:ext cx="2944124"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F7A45"/>
                </a:solidFill>
                <a:latin typeface="Oswald" pitchFamily="34" charset="0"/>
                <a:ea typeface="Oswald" pitchFamily="34" charset="-122"/>
                <a:cs typeface="Oswald" pitchFamily="34" charset="-120"/>
              </a:rPr>
              <a:t>Vitesse jusqu’à ×1,5</a:t>
            </a:r>
            <a:endParaRPr lang="en-US" sz="2200" dirty="0"/>
          </a:p>
        </p:txBody>
      </p:sp>
      <p:sp>
        <p:nvSpPr>
          <p:cNvPr id="10" name="Text 8"/>
          <p:cNvSpPr/>
          <p:nvPr/>
        </p:nvSpPr>
        <p:spPr>
          <a:xfrm>
            <a:off x="4666774" y="3992880"/>
            <a:ext cx="294412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Plus la question est réglée tôt, plus le bonus est fort.</a:t>
            </a:r>
            <a:endParaRPr lang="en-US" sz="1500" dirty="0"/>
          </a:p>
        </p:txBody>
      </p:sp>
      <p:sp>
        <p:nvSpPr>
          <p:cNvPr id="11" name="Shape 9"/>
          <p:cNvSpPr/>
          <p:nvPr/>
        </p:nvSpPr>
        <p:spPr>
          <a:xfrm>
            <a:off x="7998857" y="3298191"/>
            <a:ext cx="3373993" cy="1752600"/>
          </a:xfrm>
          <a:prstGeom prst="roundRect">
            <a:avLst>
              <a:gd name="adj" fmla="val 6884"/>
            </a:avLst>
          </a:prstGeom>
          <a:solidFill>
            <a:srgbClr val="11161F"/>
          </a:solidFill>
          <a:ln w="12700">
            <a:solidFill>
              <a:srgbClr val="2A3547"/>
            </a:solidFill>
            <a:prstDash val="solid"/>
          </a:ln>
        </p:spPr>
      </p:sp>
      <p:sp>
        <p:nvSpPr>
          <p:cNvPr id="12" name="Text 10"/>
          <p:cNvSpPr/>
          <p:nvPr/>
        </p:nvSpPr>
        <p:spPr>
          <a:xfrm>
            <a:off x="8256667" y="3556000"/>
            <a:ext cx="2944124"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F7A45"/>
                </a:solidFill>
                <a:latin typeface="Oswald" pitchFamily="34" charset="0"/>
                <a:ea typeface="Oswald" pitchFamily="34" charset="-122"/>
                <a:cs typeface="Oswald" pitchFamily="34" charset="-120"/>
              </a:rPr>
              <a:t>Bonus surprise</a:t>
            </a:r>
            <a:endParaRPr lang="en-US" sz="2200" dirty="0"/>
          </a:p>
        </p:txBody>
      </p:sp>
      <p:sp>
        <p:nvSpPr>
          <p:cNvPr id="13" name="Text 11"/>
          <p:cNvSpPr/>
          <p:nvPr/>
        </p:nvSpPr>
        <p:spPr>
          <a:xfrm>
            <a:off x="8256667" y="3992880"/>
            <a:ext cx="294412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Ralenti, réponse retirée ou soin : 15 % de chances par bonne élimination.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7A45"/>
        </a:solidFill>
      </p:bgPr>
    </p:bg>
    <p:spTree>
      <p:nvGrpSpPr>
        <p:cNvPr id="1" name=""/>
        <p:cNvGrpSpPr/>
        <p:nvPr/>
      </p:nvGrpSpPr>
      <p:grpSpPr>
        <a:xfrm>
          <a:off x="0" y="0"/>
          <a:ext cx="0" cy="0"/>
          <a:chOff x="0" y="0"/>
          <a:chExt cx="0" cy="0"/>
        </a:xfrm>
      </p:grpSpPr>
      <p:sp>
        <p:nvSpPr>
          <p:cNvPr id="2" name="Text 0"/>
          <p:cNvSpPr/>
          <p:nvPr/>
        </p:nvSpPr>
        <p:spPr>
          <a:xfrm>
            <a:off x="812800" y="215582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11161F"/>
                </a:solidFill>
                <a:latin typeface="JetBrains Mono" pitchFamily="49" charset="0"/>
                <a:ea typeface="JetBrains Mono" pitchFamily="49" charset="-122"/>
                <a:cs typeface="JetBrains Mono" pitchFamily="49" charset="-120"/>
              </a:rPr>
              <a:t>LE CHOIX CLÉ</a:t>
            </a:r>
            <a:endParaRPr lang="en-US" sz="1400" dirty="0"/>
          </a:p>
        </p:txBody>
      </p:sp>
      <p:sp>
        <p:nvSpPr>
          <p:cNvPr id="3" name="Text 1"/>
          <p:cNvSpPr/>
          <p:nvPr>
            <p:ph type="title"/>
          </p:nvPr>
        </p:nvSpPr>
        <p:spPr>
          <a:xfrm>
            <a:off x="812800" y="2709546"/>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11161F"/>
                </a:solidFill>
                <a:latin typeface="Oswald" pitchFamily="34" charset="0"/>
                <a:ea typeface="Oswald" pitchFamily="34" charset="-122"/>
                <a:cs typeface="Oswald" pitchFamily="34" charset="-120"/>
              </a:rPr>
              <a:t>Le serveur est seul arbitre.</a:t>
            </a:r>
            <a:endParaRPr lang="en-US" sz="7000" dirty="0"/>
          </a:p>
        </p:txBody>
      </p:sp>
      <p:sp>
        <p:nvSpPr>
          <p:cNvPr id="4" name="Text 2"/>
          <p:cNvSpPr/>
          <p:nvPr/>
        </p:nvSpPr>
        <p:spPr>
          <a:xfrm>
            <a:off x="812800" y="3947796"/>
            <a:ext cx="9156700"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1161F"/>
                </a:solidFill>
                <a:latin typeface="Rubik" pitchFamily="34" charset="0"/>
                <a:ea typeface="Rubik" pitchFamily="34" charset="-122"/>
                <a:cs typeface="Rubik" pitchFamily="34" charset="-120"/>
              </a:rPr>
              <a:t>La bonne réponse ne quitte jamais l’API avant la fin de la question. Le navigateur affiche, le serveur décide.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Trois briques, un seul langage</a:t>
            </a:r>
            <a:endParaRPr lang="en-US" sz="3600" dirty="0"/>
          </a:p>
        </p:txBody>
      </p:sp>
      <p:sp>
        <p:nvSpPr>
          <p:cNvPr id="4" name="Shape 2"/>
          <p:cNvSpPr/>
          <p:nvPr/>
        </p:nvSpPr>
        <p:spPr>
          <a:xfrm>
            <a:off x="819150" y="1967232"/>
            <a:ext cx="2832100" cy="2183130"/>
          </a:xfrm>
          <a:prstGeom prst="roundRect">
            <a:avLst>
              <a:gd name="adj" fmla="val 5526"/>
            </a:avLst>
          </a:prstGeom>
          <a:solidFill>
            <a:srgbClr val="18202D"/>
          </a:solidFill>
          <a:ln w="12700">
            <a:solidFill>
              <a:srgbClr val="2A3547"/>
            </a:solidFill>
            <a:prstDash val="solid"/>
          </a:ln>
        </p:spPr>
      </p:sp>
      <p:pic>
        <p:nvPicPr>
          <p:cNvPr id="5" name="Image 0" descr="Play">    </p:cNvPr>
          <p:cNvPicPr>
            <a:picLocks noChangeAspect="1"/>
          </p:cNvPicPr>
          <p:nvPr/>
        </p:nvPicPr>
        <p:blipFill>
          <a:blip r:embed="rId1"/>
          <a:srcRect l="0" r="0" t="0" b="0"/>
          <a:stretch/>
        </p:blipFill>
        <p:spPr>
          <a:xfrm>
            <a:off x="1076960" y="2225039"/>
            <a:ext cx="355600" cy="355600"/>
          </a:xfrm>
          <a:prstGeom prst="rect">
            <a:avLst/>
          </a:prstGeom>
        </p:spPr>
      </p:pic>
      <p:sp>
        <p:nvSpPr>
          <p:cNvPr id="6" name="Text 3"/>
          <p:cNvSpPr/>
          <p:nvPr/>
        </p:nvSpPr>
        <p:spPr>
          <a:xfrm>
            <a:off x="1076960" y="2682239"/>
            <a:ext cx="2385975"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Client</a:t>
            </a:r>
            <a:endParaRPr lang="en-US" sz="2200" dirty="0"/>
          </a:p>
        </p:txBody>
      </p:sp>
      <p:sp>
        <p:nvSpPr>
          <p:cNvPr id="7" name="Text 4"/>
          <p:cNvSpPr/>
          <p:nvPr/>
        </p:nvSpPr>
        <p:spPr>
          <a:xfrm>
            <a:off x="1076960" y="3119121"/>
            <a:ext cx="238597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EB9CB"/>
                </a:solidFill>
                <a:latin typeface="Rubik" pitchFamily="34" charset="0"/>
                <a:ea typeface="Rubik" pitchFamily="34" charset="-122"/>
                <a:cs typeface="Rubik" pitchFamily="34" charset="-120"/>
              </a:rPr>
              <a:t>React et React Three Fiber pour la 3D, HUD en HTML, Vite</a:t>
            </a:r>
            <a:endParaRPr lang="en-US" sz="1400" dirty="0"/>
          </a:p>
        </p:txBody>
      </p:sp>
      <p:pic>
        <p:nvPicPr>
          <p:cNvPr id="8" name="Image 1" descr="arrow-right">    </p:cNvPr>
          <p:cNvPicPr>
            <a:picLocks noChangeAspect="1"/>
          </p:cNvPicPr>
          <p:nvPr/>
        </p:nvPicPr>
        <p:blipFill>
          <a:blip r:embed="rId2"/>
          <a:srcRect l="0" r="0" t="0" b="0"/>
          <a:stretch/>
        </p:blipFill>
        <p:spPr>
          <a:xfrm>
            <a:off x="3860800" y="2906396"/>
            <a:ext cx="609600" cy="304800"/>
          </a:xfrm>
          <a:prstGeom prst="rect">
            <a:avLst/>
          </a:prstGeom>
        </p:spPr>
      </p:pic>
      <p:sp>
        <p:nvSpPr>
          <p:cNvPr id="9" name="Shape 5"/>
          <p:cNvSpPr/>
          <p:nvPr/>
        </p:nvSpPr>
        <p:spPr>
          <a:xfrm>
            <a:off x="4679950" y="1967232"/>
            <a:ext cx="2832100" cy="2183130"/>
          </a:xfrm>
          <a:prstGeom prst="roundRect">
            <a:avLst>
              <a:gd name="adj" fmla="val 5526"/>
            </a:avLst>
          </a:prstGeom>
          <a:solidFill>
            <a:srgbClr val="18202D"/>
          </a:solidFill>
          <a:ln w="12700">
            <a:solidFill>
              <a:srgbClr val="2A3547"/>
            </a:solidFill>
            <a:prstDash val="solid"/>
          </a:ln>
        </p:spPr>
      </p:sp>
      <p:pic>
        <p:nvPicPr>
          <p:cNvPr id="10" name="Image 2" descr="Settings">    </p:cNvPr>
          <p:cNvPicPr>
            <a:picLocks noChangeAspect="1"/>
          </p:cNvPicPr>
          <p:nvPr/>
        </p:nvPicPr>
        <p:blipFill>
          <a:blip r:embed="rId3"/>
          <a:srcRect l="0" r="0" t="0" b="0"/>
          <a:stretch/>
        </p:blipFill>
        <p:spPr>
          <a:xfrm>
            <a:off x="4937760" y="2225039"/>
            <a:ext cx="355600" cy="355600"/>
          </a:xfrm>
          <a:prstGeom prst="rect">
            <a:avLst/>
          </a:prstGeom>
        </p:spPr>
      </p:pic>
      <p:sp>
        <p:nvSpPr>
          <p:cNvPr id="11" name="Text 6"/>
          <p:cNvSpPr/>
          <p:nvPr/>
        </p:nvSpPr>
        <p:spPr>
          <a:xfrm>
            <a:off x="4937760" y="2682239"/>
            <a:ext cx="2385975"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API</a:t>
            </a:r>
            <a:endParaRPr lang="en-US" sz="2200" dirty="0"/>
          </a:p>
        </p:txBody>
      </p:sp>
      <p:sp>
        <p:nvSpPr>
          <p:cNvPr id="12" name="Text 7"/>
          <p:cNvSpPr/>
          <p:nvPr/>
        </p:nvSpPr>
        <p:spPr>
          <a:xfrm>
            <a:off x="4937760" y="3119121"/>
            <a:ext cx="238597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EB9CB"/>
                </a:solidFill>
                <a:latin typeface="Rubik" pitchFamily="34" charset="0"/>
                <a:ea typeface="Rubik" pitchFamily="34" charset="-122"/>
                <a:cs typeface="Rubik" pitchFamily="34" charset="-120"/>
              </a:rPr>
              <a:t>Node.js et Express, validation Zod, JWT avec jose, Argon2id</a:t>
            </a:r>
            <a:endParaRPr lang="en-US" sz="1400" dirty="0"/>
          </a:p>
        </p:txBody>
      </p:sp>
      <p:pic>
        <p:nvPicPr>
          <p:cNvPr id="13" name="Image 3" descr="arrow-right">    </p:cNvPr>
          <p:cNvPicPr>
            <a:picLocks noChangeAspect="1"/>
          </p:cNvPicPr>
          <p:nvPr/>
        </p:nvPicPr>
        <p:blipFill>
          <a:blip r:embed="rId4"/>
          <a:srcRect l="0" r="0" t="0" b="0"/>
          <a:stretch/>
        </p:blipFill>
        <p:spPr>
          <a:xfrm>
            <a:off x="7721600" y="2906396"/>
            <a:ext cx="609600" cy="304800"/>
          </a:xfrm>
          <a:prstGeom prst="rect">
            <a:avLst/>
          </a:prstGeom>
        </p:spPr>
      </p:pic>
      <p:sp>
        <p:nvSpPr>
          <p:cNvPr id="14" name="Shape 8"/>
          <p:cNvSpPr/>
          <p:nvPr/>
        </p:nvSpPr>
        <p:spPr>
          <a:xfrm>
            <a:off x="8540750" y="1967232"/>
            <a:ext cx="2832100" cy="2183130"/>
          </a:xfrm>
          <a:prstGeom prst="roundRect">
            <a:avLst>
              <a:gd name="adj" fmla="val 5526"/>
            </a:avLst>
          </a:prstGeom>
          <a:solidFill>
            <a:srgbClr val="18202D"/>
          </a:solidFill>
          <a:ln w="12700">
            <a:solidFill>
              <a:srgbClr val="2A3547"/>
            </a:solidFill>
            <a:prstDash val="solid"/>
          </a:ln>
        </p:spPr>
      </p:sp>
      <p:pic>
        <p:nvPicPr>
          <p:cNvPr id="15" name="Image 4" descr="Database">    </p:cNvPr>
          <p:cNvPicPr>
            <a:picLocks noChangeAspect="1"/>
          </p:cNvPicPr>
          <p:nvPr/>
        </p:nvPicPr>
        <p:blipFill>
          <a:blip r:embed="rId5"/>
          <a:srcRect l="0" r="0" t="0" b="0"/>
          <a:stretch/>
        </p:blipFill>
        <p:spPr>
          <a:xfrm>
            <a:off x="8798560" y="2225039"/>
            <a:ext cx="355600" cy="355600"/>
          </a:xfrm>
          <a:prstGeom prst="rect">
            <a:avLst/>
          </a:prstGeom>
        </p:spPr>
      </p:pic>
      <p:sp>
        <p:nvSpPr>
          <p:cNvPr id="16" name="Text 9"/>
          <p:cNvSpPr/>
          <p:nvPr/>
        </p:nvSpPr>
        <p:spPr>
          <a:xfrm>
            <a:off x="8798560" y="2682239"/>
            <a:ext cx="2385975"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F3EFE6"/>
                </a:solidFill>
                <a:latin typeface="Oswald" pitchFamily="34" charset="0"/>
                <a:ea typeface="Oswald" pitchFamily="34" charset="-122"/>
                <a:cs typeface="Oswald" pitchFamily="34" charset="-120"/>
              </a:rPr>
              <a:t>Base</a:t>
            </a:r>
            <a:endParaRPr lang="en-US" sz="2200" dirty="0"/>
          </a:p>
        </p:txBody>
      </p:sp>
      <p:sp>
        <p:nvSpPr>
          <p:cNvPr id="17" name="Text 10"/>
          <p:cNvSpPr/>
          <p:nvPr/>
        </p:nvSpPr>
        <p:spPr>
          <a:xfrm>
            <a:off x="8798560" y="3119121"/>
            <a:ext cx="2385975"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EB9CB"/>
                </a:solidFill>
                <a:latin typeface="Rubik" pitchFamily="34" charset="0"/>
                <a:ea typeface="Rubik" pitchFamily="34" charset="-122"/>
                <a:cs typeface="Rubik" pitchFamily="34" charset="-120"/>
              </a:rPr>
              <a:t>PostgreSQL 16 via Docker, schéma et migrations Prisma</a:t>
            </a:r>
            <a:endParaRPr lang="en-US" sz="1400" dirty="0"/>
          </a:p>
        </p:txBody>
      </p:sp>
      <p:sp>
        <p:nvSpPr>
          <p:cNvPr id="18" name="Text 11"/>
          <p:cNvSpPr/>
          <p:nvPr/>
        </p:nvSpPr>
        <p:spPr>
          <a:xfrm>
            <a:off x="812800" y="4512311"/>
            <a:ext cx="10566400" cy="889000"/>
          </a:xfrm>
          <a:prstGeom prst="roundRect">
            <a:avLst>
              <a:gd name="adj" fmla="val 11429"/>
            </a:avLst>
          </a:prstGeom>
          <a:solidFill>
            <a:srgbClr val="18202D"/>
          </a:solidFill>
          <a:ln/>
        </p:spPr>
        <p:txBody>
          <a:bodyPr wrap="square" lIns="259802" tIns="148042" rIns="0" bIns="122642" rtlCol="0" anchor="t">
            <a:normAutofit/>
          </a:bodyPr>
          <a:lstStyle/>
          <a:p>
            <a:pPr algn="l" indent="0" marL="0">
              <a:lnSpc>
                <a:spcPts val="2100"/>
              </a:lnSpc>
              <a:buNone/>
            </a:pPr>
            <a:r>
              <a:rPr lang="en-US" sz="1500" dirty="0">
                <a:solidFill>
                  <a:srgbClr val="F3EFE6"/>
                </a:solidFill>
                <a:latin typeface="Rubik" pitchFamily="34" charset="0"/>
                <a:ea typeface="Rubik" pitchFamily="34" charset="-122"/>
                <a:cs typeface="Rubik" pitchFamily="34" charset="-120"/>
              </a:rPr>
              <a:t>TypeScript partout. Un paquet </a:t>
            </a:r>
            <a:r>
              <a:rPr lang="en-US" sz="1500" dirty="0">
                <a:solidFill>
                  <a:srgbClr val="FF7A45"/>
                </a:solidFill>
                <a:latin typeface="Rubik" pitchFamily="34" charset="0"/>
                <a:ea typeface="Rubik" pitchFamily="34" charset="-122"/>
                <a:cs typeface="Rubik" pitchFamily="34" charset="-120"/>
              </a:rPr>
              <a:t>shared</a:t>
            </a:r>
            <a:r>
              <a:rPr lang="en-US" sz="1500" dirty="0">
                <a:solidFill>
                  <a:srgbClr val="F3EFE6"/>
                </a:solidFill>
                <a:latin typeface="Rubik" pitchFamily="34" charset="0"/>
                <a:ea typeface="Rubik" pitchFamily="34" charset="-122"/>
                <a:cs typeface="Rubik" pitchFamily="34" charset="-120"/>
              </a:rPr>
              <a:t> porte les types échangés et les règles de score, communs au client et à l’API.</a:t>
            </a:r>
            <a:endParaRPr lang="en-US" sz="1500" dirty="0"/>
          </a:p>
        </p:txBody>
      </p:sp>
      <p:sp>
        <p:nvSpPr>
          <p:cNvPr id="19" name="Shape 12"/>
          <p:cNvSpPr/>
          <p:nvPr/>
        </p:nvSpPr>
        <p:spPr>
          <a:xfrm>
            <a:off x="812800" y="4512311"/>
            <a:ext cx="10566400" cy="889000"/>
          </a:xfrm>
          <a:custGeom>
            <a:avLst/>
            <a:gdLst/>
            <a:ahLst/>
            <a:cxnLst/>
            <a:rect l="l" t="t" r="r" b="b"/>
            <a:pathLst>
              <a:path w="10566400" h="889000">
                <a:moveTo>
                  <a:pt x="101600" y="889000"/>
                </a:moveTo>
                <a:lnTo>
                  <a:pt x="101600" y="889000"/>
                </a:lnTo>
                <a:arcTo hR="101600" wR="101600" stAng="5400000" swAng="5400000"/>
                <a:lnTo>
                  <a:pt x="0" y="101600"/>
                </a:lnTo>
                <a:arcTo hR="101600" wR="101600" stAng="10800000" swAng="5400000"/>
                <a:lnTo>
                  <a:pt x="101600" y="0"/>
                </a:lnTo>
                <a:arcTo hR="101600" wR="63500" stAng="16200000" swAng="-5400000"/>
                <a:lnTo>
                  <a:pt x="38100" y="787400"/>
                </a:lnTo>
                <a:arcTo hR="101600" wR="63500" stAng="10800000" swAng="-5400000"/>
                <a:close/>
              </a:path>
            </a:pathLst>
          </a:custGeom>
          <a:solidFill>
            <a:srgbClr val="FF7A45"/>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20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ANTI-TRICHE ET SÉCURITÉ</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Un jeu difficile à tricher</a:t>
            </a:r>
            <a:endParaRPr lang="en-US" sz="3600" dirty="0"/>
          </a:p>
        </p:txBody>
      </p:sp>
      <p:sp>
        <p:nvSpPr>
          <p:cNvPr id="4" name="Shape 2"/>
          <p:cNvSpPr/>
          <p:nvPr/>
        </p:nvSpPr>
        <p:spPr>
          <a:xfrm>
            <a:off x="819150" y="1916432"/>
            <a:ext cx="3407807" cy="1813560"/>
          </a:xfrm>
          <a:prstGeom prst="roundRect">
            <a:avLst>
              <a:gd name="adj" fmla="val 5252"/>
            </a:avLst>
          </a:prstGeom>
          <a:solidFill>
            <a:srgbClr val="11161F"/>
          </a:solidFill>
          <a:ln w="12700">
            <a:solidFill>
              <a:srgbClr val="2A3547"/>
            </a:solidFill>
            <a:prstDash val="solid"/>
          </a:ln>
        </p:spPr>
      </p:sp>
      <p:pic>
        <p:nvPicPr>
          <p:cNvPr id="5" name="Image 0" descr="Lock">    </p:cNvPr>
          <p:cNvPicPr>
            <a:picLocks noChangeAspect="1"/>
          </p:cNvPicPr>
          <p:nvPr/>
        </p:nvPicPr>
        <p:blipFill>
          <a:blip r:embed="rId1"/>
          <a:srcRect l="0" r="0" t="0" b="0"/>
          <a:stretch/>
        </p:blipFill>
        <p:spPr>
          <a:xfrm>
            <a:off x="1026160" y="2123439"/>
            <a:ext cx="279400" cy="279400"/>
          </a:xfrm>
          <a:prstGeom prst="rect">
            <a:avLst/>
          </a:prstGeom>
        </p:spPr>
      </p:pic>
      <p:sp>
        <p:nvSpPr>
          <p:cNvPr id="6" name="Text 3"/>
          <p:cNvSpPr/>
          <p:nvPr/>
        </p:nvSpPr>
        <p:spPr>
          <a:xfrm>
            <a:off x="1026160" y="2479039"/>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Réponses cachées</a:t>
            </a:r>
            <a:endParaRPr lang="en-US" sz="1800" dirty="0"/>
          </a:p>
        </p:txBody>
      </p:sp>
      <p:sp>
        <p:nvSpPr>
          <p:cNvPr id="7" name="Text 4"/>
          <p:cNvSpPr/>
          <p:nvPr/>
        </p:nvSpPr>
        <p:spPr>
          <a:xfrm>
            <a:off x="1026160" y="2829561"/>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Série tirée et réponses mélangées par le serveur, révélées seulement à la fin.</a:t>
            </a:r>
            <a:endParaRPr lang="en-US" sz="1300" dirty="0"/>
          </a:p>
        </p:txBody>
      </p:sp>
      <p:sp>
        <p:nvSpPr>
          <p:cNvPr id="8" name="Shape 5"/>
          <p:cNvSpPr/>
          <p:nvPr/>
        </p:nvSpPr>
        <p:spPr>
          <a:xfrm>
            <a:off x="4392057" y="1916432"/>
            <a:ext cx="3407807" cy="1813560"/>
          </a:xfrm>
          <a:prstGeom prst="roundRect">
            <a:avLst>
              <a:gd name="adj" fmla="val 5252"/>
            </a:avLst>
          </a:prstGeom>
          <a:solidFill>
            <a:srgbClr val="11161F"/>
          </a:solidFill>
          <a:ln w="12700">
            <a:solidFill>
              <a:srgbClr val="2A3547"/>
            </a:solidFill>
            <a:prstDash val="solid"/>
          </a:ln>
        </p:spPr>
      </p:sp>
      <p:pic>
        <p:nvPicPr>
          <p:cNvPr id="9" name="Image 1" descr="Clock">    </p:cNvPr>
          <p:cNvPicPr>
            <a:picLocks noChangeAspect="1"/>
          </p:cNvPicPr>
          <p:nvPr/>
        </p:nvPicPr>
        <p:blipFill>
          <a:blip r:embed="rId2"/>
          <a:srcRect l="0" r="0" t="0" b="0"/>
          <a:stretch/>
        </p:blipFill>
        <p:spPr>
          <a:xfrm>
            <a:off x="4599067" y="2123439"/>
            <a:ext cx="279400" cy="279400"/>
          </a:xfrm>
          <a:prstGeom prst="rect">
            <a:avLst/>
          </a:prstGeom>
        </p:spPr>
      </p:pic>
      <p:sp>
        <p:nvSpPr>
          <p:cNvPr id="10" name="Text 6"/>
          <p:cNvSpPr/>
          <p:nvPr/>
        </p:nvSpPr>
        <p:spPr>
          <a:xfrm>
            <a:off x="4599067" y="2479039"/>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Chrono serveur</a:t>
            </a:r>
            <a:endParaRPr lang="en-US" sz="1800" dirty="0"/>
          </a:p>
        </p:txBody>
      </p:sp>
      <p:sp>
        <p:nvSpPr>
          <p:cNvPr id="11" name="Text 7"/>
          <p:cNvSpPr/>
          <p:nvPr/>
        </p:nvSpPr>
        <p:spPr>
          <a:xfrm>
            <a:off x="4599067" y="2829561"/>
            <a:ext cx="3083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Début et échéance horodatés côté serveur : impossible de gagner du temps.</a:t>
            </a:r>
            <a:endParaRPr lang="en-US" sz="1300" dirty="0"/>
          </a:p>
        </p:txBody>
      </p:sp>
      <p:sp>
        <p:nvSpPr>
          <p:cNvPr id="12" name="Shape 8"/>
          <p:cNvSpPr/>
          <p:nvPr/>
        </p:nvSpPr>
        <p:spPr>
          <a:xfrm>
            <a:off x="7964964" y="1916432"/>
            <a:ext cx="3407807" cy="1813560"/>
          </a:xfrm>
          <a:prstGeom prst="roundRect">
            <a:avLst>
              <a:gd name="adj" fmla="val 5252"/>
            </a:avLst>
          </a:prstGeom>
          <a:solidFill>
            <a:srgbClr val="11161F"/>
          </a:solidFill>
          <a:ln w="12700">
            <a:solidFill>
              <a:srgbClr val="2A3547"/>
            </a:solidFill>
            <a:prstDash val="solid"/>
          </a:ln>
        </p:spPr>
      </p:sp>
      <p:pic>
        <p:nvPicPr>
          <p:cNvPr id="13" name="Image 2" descr="Database">    </p:cNvPr>
          <p:cNvPicPr>
            <a:picLocks noChangeAspect="1"/>
          </p:cNvPicPr>
          <p:nvPr/>
        </p:nvPicPr>
        <p:blipFill>
          <a:blip r:embed="rId3"/>
          <a:srcRect l="0" r="0" t="0" b="0"/>
          <a:stretch/>
        </p:blipFill>
        <p:spPr>
          <a:xfrm>
            <a:off x="8171974" y="2123439"/>
            <a:ext cx="279400" cy="279400"/>
          </a:xfrm>
          <a:prstGeom prst="rect">
            <a:avLst/>
          </a:prstGeom>
        </p:spPr>
      </p:pic>
      <p:sp>
        <p:nvSpPr>
          <p:cNvPr id="14" name="Text 9"/>
          <p:cNvSpPr/>
          <p:nvPr/>
        </p:nvSpPr>
        <p:spPr>
          <a:xfrm>
            <a:off x="8171974" y="2479039"/>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Un tir, un compte</a:t>
            </a:r>
            <a:endParaRPr lang="en-US" sz="1800" dirty="0"/>
          </a:p>
        </p:txBody>
      </p:sp>
      <p:sp>
        <p:nvSpPr>
          <p:cNvPr id="15" name="Text 10"/>
          <p:cNvSpPr/>
          <p:nvPr/>
        </p:nvSpPr>
        <p:spPr>
          <a:xfrm>
            <a:off x="8171974" y="2829561"/>
            <a:ext cx="3083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Verrou sur la partie : deux tirs simultanés ne comptent jamais double.</a:t>
            </a:r>
            <a:endParaRPr lang="en-US" sz="1300" dirty="0"/>
          </a:p>
        </p:txBody>
      </p:sp>
      <p:sp>
        <p:nvSpPr>
          <p:cNvPr id="16" name="Shape 11"/>
          <p:cNvSpPr/>
          <p:nvPr/>
        </p:nvSpPr>
        <p:spPr>
          <a:xfrm>
            <a:off x="819150" y="3895089"/>
            <a:ext cx="3407807" cy="1813560"/>
          </a:xfrm>
          <a:prstGeom prst="roundRect">
            <a:avLst>
              <a:gd name="adj" fmla="val 5252"/>
            </a:avLst>
          </a:prstGeom>
          <a:solidFill>
            <a:srgbClr val="11161F"/>
          </a:solidFill>
          <a:ln w="12700">
            <a:solidFill>
              <a:srgbClr val="2A3547"/>
            </a:solidFill>
            <a:prstDash val="solid"/>
          </a:ln>
        </p:spPr>
      </p:sp>
      <p:pic>
        <p:nvPicPr>
          <p:cNvPr id="17" name="Image 3" descr="Key">    </p:cNvPr>
          <p:cNvPicPr>
            <a:picLocks noChangeAspect="1"/>
          </p:cNvPicPr>
          <p:nvPr/>
        </p:nvPicPr>
        <p:blipFill>
          <a:blip r:embed="rId4"/>
          <a:srcRect l="0" r="0" t="0" b="0"/>
          <a:stretch/>
        </p:blipFill>
        <p:spPr>
          <a:xfrm>
            <a:off x="1026160" y="4102100"/>
            <a:ext cx="279400" cy="279400"/>
          </a:xfrm>
          <a:prstGeom prst="rect">
            <a:avLst/>
          </a:prstGeom>
        </p:spPr>
      </p:pic>
      <p:sp>
        <p:nvSpPr>
          <p:cNvPr id="18" name="Text 12"/>
          <p:cNvSpPr/>
          <p:nvPr/>
        </p:nvSpPr>
        <p:spPr>
          <a:xfrm>
            <a:off x="1026160" y="445770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Session solide</a:t>
            </a:r>
            <a:endParaRPr lang="en-US" sz="1800" dirty="0"/>
          </a:p>
        </p:txBody>
      </p:sp>
      <p:sp>
        <p:nvSpPr>
          <p:cNvPr id="19" name="Text 13"/>
          <p:cNvSpPr/>
          <p:nvPr/>
        </p:nvSpPr>
        <p:spPr>
          <a:xfrm>
            <a:off x="1026160" y="4808221"/>
            <a:ext cx="3083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Jeton court en mémoire, refresh token en cookie httpOnly, renouvelé à chaque usage.</a:t>
            </a:r>
            <a:endParaRPr lang="en-US" sz="1300" dirty="0"/>
          </a:p>
        </p:txBody>
      </p:sp>
      <p:sp>
        <p:nvSpPr>
          <p:cNvPr id="20" name="Shape 14"/>
          <p:cNvSpPr/>
          <p:nvPr/>
        </p:nvSpPr>
        <p:spPr>
          <a:xfrm>
            <a:off x="4392057" y="3895089"/>
            <a:ext cx="3407807" cy="1813560"/>
          </a:xfrm>
          <a:prstGeom prst="roundRect">
            <a:avLst>
              <a:gd name="adj" fmla="val 5252"/>
            </a:avLst>
          </a:prstGeom>
          <a:solidFill>
            <a:srgbClr val="11161F"/>
          </a:solidFill>
          <a:ln w="12700">
            <a:solidFill>
              <a:srgbClr val="2A3547"/>
            </a:solidFill>
            <a:prstDash val="solid"/>
          </a:ln>
        </p:spPr>
      </p:sp>
      <p:pic>
        <p:nvPicPr>
          <p:cNvPr id="21" name="Image 4" descr="Globe">    </p:cNvPr>
          <p:cNvPicPr>
            <a:picLocks noChangeAspect="1"/>
          </p:cNvPicPr>
          <p:nvPr/>
        </p:nvPicPr>
        <p:blipFill>
          <a:blip r:embed="rId5"/>
          <a:srcRect l="0" r="0" t="0" b="0"/>
          <a:stretch/>
        </p:blipFill>
        <p:spPr>
          <a:xfrm>
            <a:off x="4599067" y="4102100"/>
            <a:ext cx="279400" cy="279400"/>
          </a:xfrm>
          <a:prstGeom prst="rect">
            <a:avLst/>
          </a:prstGeom>
        </p:spPr>
      </p:pic>
      <p:sp>
        <p:nvSpPr>
          <p:cNvPr id="22" name="Text 15"/>
          <p:cNvSpPr/>
          <p:nvPr/>
        </p:nvSpPr>
        <p:spPr>
          <a:xfrm>
            <a:off x="4599067" y="445770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CORS strict</a:t>
            </a:r>
            <a:endParaRPr lang="en-US" sz="1800" dirty="0"/>
          </a:p>
        </p:txBody>
      </p:sp>
      <p:sp>
        <p:nvSpPr>
          <p:cNvPr id="23" name="Text 16"/>
          <p:cNvSpPr/>
          <p:nvPr/>
        </p:nvSpPr>
        <p:spPr>
          <a:xfrm>
            <a:off x="4599067" y="4808221"/>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Seule l’origine exacte du jeu peut appeler l’API avec ses cookies.</a:t>
            </a:r>
            <a:endParaRPr lang="en-US" sz="1300" dirty="0"/>
          </a:p>
        </p:txBody>
      </p:sp>
      <p:sp>
        <p:nvSpPr>
          <p:cNvPr id="24" name="Shape 17"/>
          <p:cNvSpPr/>
          <p:nvPr/>
        </p:nvSpPr>
        <p:spPr>
          <a:xfrm>
            <a:off x="7964964" y="3895089"/>
            <a:ext cx="3407807" cy="1813560"/>
          </a:xfrm>
          <a:prstGeom prst="roundRect">
            <a:avLst>
              <a:gd name="adj" fmla="val 5252"/>
            </a:avLst>
          </a:prstGeom>
          <a:solidFill>
            <a:srgbClr val="11161F"/>
          </a:solidFill>
          <a:ln w="12700">
            <a:solidFill>
              <a:srgbClr val="2A3547"/>
            </a:solidFill>
            <a:prstDash val="solid"/>
          </a:ln>
        </p:spPr>
      </p:sp>
      <p:pic>
        <p:nvPicPr>
          <p:cNvPr id="25" name="Image 5" descr="Warning">    </p:cNvPr>
          <p:cNvPicPr>
            <a:picLocks noChangeAspect="1"/>
          </p:cNvPicPr>
          <p:nvPr/>
        </p:nvPicPr>
        <p:blipFill>
          <a:blip r:embed="rId6"/>
          <a:srcRect l="0" r="0" t="0" b="0"/>
          <a:stretch/>
        </p:blipFill>
        <p:spPr>
          <a:xfrm>
            <a:off x="8171974" y="4102100"/>
            <a:ext cx="279400" cy="279400"/>
          </a:xfrm>
          <a:prstGeom prst="rect">
            <a:avLst/>
          </a:prstGeom>
        </p:spPr>
      </p:pic>
      <p:sp>
        <p:nvSpPr>
          <p:cNvPr id="26" name="Text 18"/>
          <p:cNvSpPr/>
          <p:nvPr/>
        </p:nvSpPr>
        <p:spPr>
          <a:xfrm>
            <a:off x="8171974" y="445770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3EFE6"/>
                </a:solidFill>
                <a:latin typeface="Oswald" pitchFamily="34" charset="0"/>
                <a:ea typeface="Oswald" pitchFamily="34" charset="-122"/>
                <a:cs typeface="Oswald" pitchFamily="34" charset="-120"/>
              </a:rPr>
              <a:t>Pause encadrée</a:t>
            </a:r>
            <a:endParaRPr lang="en-US" sz="1800" dirty="0"/>
          </a:p>
        </p:txBody>
      </p:sp>
      <p:sp>
        <p:nvSpPr>
          <p:cNvPr id="27" name="Text 19"/>
          <p:cNvSpPr/>
          <p:nvPr/>
        </p:nvSpPr>
        <p:spPr>
          <a:xfrm>
            <a:off x="8171974" y="4808221"/>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EB9CB"/>
                </a:solidFill>
                <a:latin typeface="Rubik" pitchFamily="34" charset="0"/>
                <a:ea typeface="Rubik" pitchFamily="34" charset="-122"/>
                <a:cs typeface="Rubik" pitchFamily="34" charset="-120"/>
              </a:rPr>
              <a:t>3 pauses de 30 s, question masquée : pas le temps de chercher la réponse.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L’EXPÉRIENCE DE JEU</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Un vrai petit FPS</a:t>
            </a:r>
            <a:endParaRPr lang="en-US" sz="3600" dirty="0"/>
          </a:p>
        </p:txBody>
      </p:sp>
      <p:pic>
        <p:nvPicPr>
          <p:cNvPr id="4" name="Image 0" descr="Capture du boss final : un gros ennemi rouge qui crache des débris orange après un tir, au-dessus de trois cibles portant des réponses sur CORS">    </p:cNvPr>
          <p:cNvPicPr>
            <a:picLocks noChangeAspect="1"/>
          </p:cNvPicPr>
          <p:nvPr/>
        </p:nvPicPr>
        <p:blipFill>
          <a:blip r:embed="rId1"/>
          <a:srcRect l="0" r="0" t="137" b="137"/>
          <a:stretch/>
        </p:blipFill>
        <p:spPr>
          <a:xfrm>
            <a:off x="825500" y="1922782"/>
            <a:ext cx="5562600" cy="3467100"/>
          </a:xfrm>
          <a:prstGeom prst="roundRect">
            <a:avLst>
              <a:gd name="adj" fmla="val 4029"/>
            </a:avLst>
          </a:prstGeom>
        </p:spPr>
      </p:pic>
      <p:sp>
        <p:nvSpPr>
          <p:cNvPr id="5" name="Shape 2"/>
          <p:cNvSpPr/>
          <p:nvPr/>
        </p:nvSpPr>
        <p:spPr>
          <a:xfrm>
            <a:off x="819150" y="1916432"/>
            <a:ext cx="5575300" cy="3479800"/>
          </a:xfrm>
          <a:prstGeom prst="roundRect">
            <a:avLst>
              <a:gd name="adj" fmla="val 4197"/>
            </a:avLst>
          </a:prstGeom>
          <a:noFill/>
          <a:ln w="12700">
            <a:solidFill>
              <a:srgbClr val="2A3547"/>
            </a:solidFill>
            <a:prstDash val="solid"/>
          </a:ln>
        </p:spPr>
      </p:sp>
      <p:sp>
        <p:nvSpPr>
          <p:cNvPr id="6" name="Text 3"/>
          <p:cNvSpPr/>
          <p:nvPr/>
        </p:nvSpPr>
        <p:spPr>
          <a:xfrm>
            <a:off x="6807200" y="1910082"/>
            <a:ext cx="470916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F7A45"/>
                </a:solidFill>
                <a:latin typeface="Oswald" pitchFamily="34" charset="0"/>
                <a:ea typeface="Oswald" pitchFamily="34" charset="-122"/>
                <a:cs typeface="Oswald" pitchFamily="34" charset="-120"/>
              </a:rPr>
              <a:t>Viser, tirer, bouger</a:t>
            </a:r>
            <a:endParaRPr lang="en-US" sz="1800" dirty="0"/>
          </a:p>
        </p:txBody>
      </p:sp>
      <p:sp>
        <p:nvSpPr>
          <p:cNvPr id="7" name="Text 4"/>
          <p:cNvSpPr/>
          <p:nvPr/>
        </p:nvSpPr>
        <p:spPr>
          <a:xfrm>
            <a:off x="6807200" y="2222500"/>
            <a:ext cx="47091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Arme à la première personne, balles traçantes, déplacements au clavier.</a:t>
            </a:r>
            <a:endParaRPr lang="en-US" sz="1400" dirty="0"/>
          </a:p>
        </p:txBody>
      </p:sp>
      <p:sp>
        <p:nvSpPr>
          <p:cNvPr id="8" name="Text 5"/>
          <p:cNvSpPr/>
          <p:nvPr/>
        </p:nvSpPr>
        <p:spPr>
          <a:xfrm>
            <a:off x="6807200" y="2898139"/>
            <a:ext cx="470916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F7A45"/>
                </a:solidFill>
                <a:latin typeface="Oswald" pitchFamily="34" charset="0"/>
                <a:ea typeface="Oswald" pitchFamily="34" charset="-122"/>
                <a:cs typeface="Oswald" pitchFamily="34" charset="-120"/>
              </a:rPr>
              <a:t>Des ennemis vivants</a:t>
            </a:r>
            <a:endParaRPr lang="en-US" sz="1800" dirty="0"/>
          </a:p>
        </p:txBody>
      </p:sp>
      <p:sp>
        <p:nvSpPr>
          <p:cNvPr id="9" name="Text 6"/>
          <p:cNvSpPr/>
          <p:nvPr/>
        </p:nvSpPr>
        <p:spPr>
          <a:xfrm>
            <a:off x="6807200" y="3210561"/>
            <a:ext cx="47091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Ils explosent quand on les abat, et deviennent menaçants quand le temps presse.</a:t>
            </a:r>
            <a:endParaRPr lang="en-US" sz="1400" dirty="0"/>
          </a:p>
        </p:txBody>
      </p:sp>
      <p:sp>
        <p:nvSpPr>
          <p:cNvPr id="10" name="Text 7"/>
          <p:cNvSpPr/>
          <p:nvPr/>
        </p:nvSpPr>
        <p:spPr>
          <a:xfrm>
            <a:off x="6807200" y="3886200"/>
            <a:ext cx="470916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F7A45"/>
                </a:solidFill>
                <a:latin typeface="Oswald" pitchFamily="34" charset="0"/>
                <a:ea typeface="Oswald" pitchFamily="34" charset="-122"/>
                <a:cs typeface="Oswald" pitchFamily="34" charset="-120"/>
              </a:rPr>
              <a:t>Un boss qui riposte</a:t>
            </a:r>
            <a:endParaRPr lang="en-US" sz="1800" dirty="0"/>
          </a:p>
        </p:txBody>
      </p:sp>
      <p:sp>
        <p:nvSpPr>
          <p:cNvPr id="11" name="Text 8"/>
          <p:cNvSpPr/>
          <p:nvPr/>
        </p:nvSpPr>
        <p:spPr>
          <a:xfrm>
            <a:off x="6807200" y="4198621"/>
            <a:ext cx="470916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Il se fissure à chaque victoire, charge et tire à chaque erreur.</a:t>
            </a:r>
            <a:endParaRPr lang="en-US" sz="1400" dirty="0"/>
          </a:p>
        </p:txBody>
      </p:sp>
      <p:sp>
        <p:nvSpPr>
          <p:cNvPr id="12" name="Text 9"/>
          <p:cNvSpPr/>
          <p:nvPr/>
        </p:nvSpPr>
        <p:spPr>
          <a:xfrm>
            <a:off x="6807200" y="4874264"/>
            <a:ext cx="470916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FF7A45"/>
                </a:solidFill>
                <a:latin typeface="Oswald" pitchFamily="34" charset="0"/>
                <a:ea typeface="Oswald" pitchFamily="34" charset="-122"/>
                <a:cs typeface="Oswald" pitchFamily="34" charset="-120"/>
              </a:rPr>
              <a:t>Son et musique</a:t>
            </a:r>
            <a:endParaRPr lang="en-US" sz="1800" dirty="0"/>
          </a:p>
        </p:txBody>
      </p:sp>
      <p:sp>
        <p:nvSpPr>
          <p:cNvPr id="13" name="Text 10"/>
          <p:cNvSpPr/>
          <p:nvPr/>
        </p:nvSpPr>
        <p:spPr>
          <a:xfrm>
            <a:off x="6807200" y="5186679"/>
            <a:ext cx="47091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Générés dans le navigateur, une ambiance par zone.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20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QUALITÉ</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Testé de l’API jusqu’au navigateur</a:t>
            </a:r>
            <a:endParaRPr lang="en-US" sz="3600" dirty="0"/>
          </a:p>
        </p:txBody>
      </p:sp>
      <p:sp>
        <p:nvSpPr>
          <p:cNvPr id="4" name="Text 2"/>
          <p:cNvSpPr/>
          <p:nvPr/>
        </p:nvSpPr>
        <p:spPr>
          <a:xfrm>
            <a:off x="812800" y="2011679"/>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7A45"/>
                </a:solidFill>
                <a:latin typeface="Oswald" pitchFamily="34" charset="0"/>
                <a:ea typeface="Oswald" pitchFamily="34" charset="-122"/>
                <a:cs typeface="Oswald" pitchFamily="34" charset="-120"/>
              </a:rPr>
              <a:t>71</a:t>
            </a:r>
            <a:endParaRPr lang="en-US" sz="8000" dirty="0"/>
          </a:p>
        </p:txBody>
      </p:sp>
      <p:sp>
        <p:nvSpPr>
          <p:cNvPr id="5" name="Text 3"/>
          <p:cNvSpPr/>
          <p:nvPr/>
        </p:nvSpPr>
        <p:spPr>
          <a:xfrm>
            <a:off x="812800" y="3103879"/>
            <a:ext cx="256387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EB9CB"/>
                </a:solidFill>
                <a:latin typeface="Rubik" pitchFamily="34" charset="0"/>
                <a:ea typeface="Rubik" pitchFamily="34" charset="-122"/>
                <a:cs typeface="Rubik" pitchFamily="34" charset="-120"/>
              </a:rPr>
              <a:t>questions avec explication et lien MDN</a:t>
            </a:r>
            <a:endParaRPr lang="en-US" sz="1500" dirty="0"/>
          </a:p>
        </p:txBody>
      </p:sp>
      <p:sp>
        <p:nvSpPr>
          <p:cNvPr id="6" name="Text 4"/>
          <p:cNvSpPr/>
          <p:nvPr/>
        </p:nvSpPr>
        <p:spPr>
          <a:xfrm>
            <a:off x="3505200" y="2011679"/>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7A45"/>
                </a:solidFill>
                <a:latin typeface="Oswald" pitchFamily="34" charset="0"/>
                <a:ea typeface="Oswald" pitchFamily="34" charset="-122"/>
                <a:cs typeface="Oswald" pitchFamily="34" charset="-120"/>
              </a:rPr>
              <a:t>39</a:t>
            </a:r>
            <a:endParaRPr lang="en-US" sz="8000" dirty="0"/>
          </a:p>
        </p:txBody>
      </p:sp>
      <p:sp>
        <p:nvSpPr>
          <p:cNvPr id="7" name="Text 5"/>
          <p:cNvSpPr/>
          <p:nvPr/>
        </p:nvSpPr>
        <p:spPr>
          <a:xfrm>
            <a:off x="3505200" y="3103879"/>
            <a:ext cx="256387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EB9CB"/>
                </a:solidFill>
                <a:latin typeface="Rubik" pitchFamily="34" charset="0"/>
                <a:ea typeface="Rubik" pitchFamily="34" charset="-122"/>
                <a:cs typeface="Rubik" pitchFamily="34" charset="-120"/>
              </a:rPr>
              <a:t>tests d’intégration de l’API</a:t>
            </a:r>
            <a:endParaRPr lang="en-US" sz="1500" dirty="0"/>
          </a:p>
        </p:txBody>
      </p:sp>
      <p:sp>
        <p:nvSpPr>
          <p:cNvPr id="8" name="Text 6"/>
          <p:cNvSpPr/>
          <p:nvPr/>
        </p:nvSpPr>
        <p:spPr>
          <a:xfrm>
            <a:off x="6197600" y="2011679"/>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7A45"/>
                </a:solidFill>
                <a:latin typeface="Oswald" pitchFamily="34" charset="0"/>
                <a:ea typeface="Oswald" pitchFamily="34" charset="-122"/>
                <a:cs typeface="Oswald" pitchFamily="34" charset="-120"/>
              </a:rPr>
              <a:t>10</a:t>
            </a:r>
            <a:endParaRPr lang="en-US" sz="8000" dirty="0"/>
          </a:p>
        </p:txBody>
      </p:sp>
      <p:sp>
        <p:nvSpPr>
          <p:cNvPr id="9" name="Text 7"/>
          <p:cNvSpPr/>
          <p:nvPr/>
        </p:nvSpPr>
        <p:spPr>
          <a:xfrm>
            <a:off x="6197600" y="3103879"/>
            <a:ext cx="256387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EB9CB"/>
                </a:solidFill>
                <a:latin typeface="Rubik" pitchFamily="34" charset="0"/>
                <a:ea typeface="Rubik" pitchFamily="34" charset="-122"/>
                <a:cs typeface="Rubik" pitchFamily="34" charset="-120"/>
              </a:rPr>
              <a:t>tests de bout en bout dans un vrai navigateur</a:t>
            </a:r>
            <a:endParaRPr lang="en-US" sz="1500" dirty="0"/>
          </a:p>
        </p:txBody>
      </p:sp>
      <p:sp>
        <p:nvSpPr>
          <p:cNvPr id="10" name="Text 8"/>
          <p:cNvSpPr/>
          <p:nvPr/>
        </p:nvSpPr>
        <p:spPr>
          <a:xfrm>
            <a:off x="8890000" y="2011679"/>
            <a:ext cx="256387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F7A45"/>
                </a:solidFill>
                <a:latin typeface="Oswald" pitchFamily="34" charset="0"/>
                <a:ea typeface="Oswald" pitchFamily="34" charset="-122"/>
                <a:cs typeface="Oswald" pitchFamily="34" charset="-120"/>
              </a:rPr>
              <a:t>CI</a:t>
            </a:r>
            <a:endParaRPr lang="en-US" sz="8000" dirty="0"/>
          </a:p>
        </p:txBody>
      </p:sp>
      <p:sp>
        <p:nvSpPr>
          <p:cNvPr id="11" name="Text 9"/>
          <p:cNvSpPr/>
          <p:nvPr/>
        </p:nvSpPr>
        <p:spPr>
          <a:xfrm>
            <a:off x="8890000" y="3103879"/>
            <a:ext cx="256387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EB9CB"/>
                </a:solidFill>
                <a:latin typeface="Rubik" pitchFamily="34" charset="0"/>
                <a:ea typeface="Rubik" pitchFamily="34" charset="-122"/>
                <a:cs typeface="Rubik" pitchFamily="34" charset="-120"/>
              </a:rPr>
              <a:t>à chaque pull request, sur GitHub Actions</a:t>
            </a:r>
            <a:endParaRPr lang="en-US" sz="1500" dirty="0"/>
          </a:p>
        </p:txBody>
      </p:sp>
      <p:sp>
        <p:nvSpPr>
          <p:cNvPr id="12" name="Text 10"/>
          <p:cNvSpPr/>
          <p:nvPr/>
        </p:nvSpPr>
        <p:spPr>
          <a:xfrm>
            <a:off x="812800" y="4024629"/>
            <a:ext cx="10566400" cy="924560"/>
          </a:xfrm>
          <a:prstGeom prst="roundRect">
            <a:avLst>
              <a:gd name="adj" fmla="val 10989"/>
            </a:avLst>
          </a:prstGeom>
          <a:solidFill>
            <a:srgbClr val="11161F"/>
          </a:solidFill>
          <a:ln/>
        </p:spPr>
        <p:txBody>
          <a:bodyPr wrap="square" lIns="259802" tIns="148042" rIns="0" bIns="122642" rtlCol="0" anchor="t">
            <a:normAutofit/>
          </a:bodyPr>
          <a:lstStyle/>
          <a:p>
            <a:pPr algn="l" indent="0" marL="0">
              <a:lnSpc>
                <a:spcPts val="2240"/>
              </a:lnSpc>
              <a:buNone/>
            </a:pPr>
            <a:r>
              <a:rPr lang="en-US" sz="1600" dirty="0">
                <a:solidFill>
                  <a:srgbClr val="F3EFE6"/>
                </a:solidFill>
                <a:latin typeface="Rubik" pitchFamily="34" charset="0"/>
                <a:ea typeface="Rubik" pitchFamily="34" charset="-122"/>
                <a:cs typeface="Rubik" pitchFamily="34" charset="-120"/>
              </a:rPr>
              <a:t>Les tests de bout en bout ont déjà trouvé un vrai bug : des tirs perdus quand un bonus tombait au mauvais moment.</a:t>
            </a:r>
            <a:endParaRPr lang="en-US" sz="1600" dirty="0"/>
          </a:p>
        </p:txBody>
      </p:sp>
      <p:sp>
        <p:nvSpPr>
          <p:cNvPr id="13" name="Shape 11"/>
          <p:cNvSpPr/>
          <p:nvPr/>
        </p:nvSpPr>
        <p:spPr>
          <a:xfrm>
            <a:off x="812800" y="4024629"/>
            <a:ext cx="10566400" cy="924560"/>
          </a:xfrm>
          <a:custGeom>
            <a:avLst/>
            <a:gdLst/>
            <a:ahLst/>
            <a:cxnLst/>
            <a:rect l="l" t="t" r="r" b="b"/>
            <a:pathLst>
              <a:path w="10566400" h="924560">
                <a:moveTo>
                  <a:pt x="101600" y="924560"/>
                </a:moveTo>
                <a:lnTo>
                  <a:pt x="101600" y="924560"/>
                </a:lnTo>
                <a:arcTo hR="101600" wR="101600" stAng="5400000" swAng="5400000"/>
                <a:lnTo>
                  <a:pt x="0" y="101600"/>
                </a:lnTo>
                <a:arcTo hR="101600" wR="101600" stAng="10800000" swAng="5400000"/>
                <a:lnTo>
                  <a:pt x="101600" y="0"/>
                </a:lnTo>
                <a:arcTo hR="101600" wR="63500" stAng="16200000" swAng="-5400000"/>
                <a:lnTo>
                  <a:pt x="38100" y="822960"/>
                </a:lnTo>
                <a:arcTo hR="101600" wR="63500" stAng="10800000" swAng="-5400000"/>
                <a:close/>
              </a:path>
            </a:pathLst>
          </a:custGeom>
          <a:solidFill>
            <a:srgbClr val="FF7A45"/>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6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DÉMO</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Lancer le jeu en local</a:t>
            </a:r>
            <a:endParaRPr lang="en-US" sz="3600" dirty="0"/>
          </a:p>
        </p:txBody>
      </p:sp>
      <p:sp>
        <p:nvSpPr>
          <p:cNvPr id="4" name="Shape 2"/>
          <p:cNvSpPr/>
          <p:nvPr/>
        </p:nvSpPr>
        <p:spPr>
          <a:xfrm>
            <a:off x="819150" y="1916429"/>
            <a:ext cx="10553700" cy="2344420"/>
          </a:xfrm>
          <a:prstGeom prst="roundRect">
            <a:avLst>
              <a:gd name="adj" fmla="val 5146"/>
            </a:avLst>
          </a:prstGeom>
          <a:solidFill>
            <a:srgbClr val="0B0F16"/>
          </a:solidFill>
          <a:ln w="12700">
            <a:solidFill>
              <a:srgbClr val="2A3547"/>
            </a:solidFill>
            <a:prstDash val="solid"/>
          </a:ln>
        </p:spPr>
      </p:sp>
      <p:sp>
        <p:nvSpPr>
          <p:cNvPr id="5" name="Text 3"/>
          <p:cNvSpPr/>
          <p:nvPr/>
        </p:nvSpPr>
        <p:spPr>
          <a:xfrm>
            <a:off x="1127760" y="21742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git clone https://github.com/Arthurccy/very-little-game-little.git</a:t>
            </a:r>
            <a:endParaRPr lang="en-US" sz="1500" dirty="0"/>
          </a:p>
        </p:txBody>
      </p:sp>
      <p:sp>
        <p:nvSpPr>
          <p:cNvPr id="6" name="Text 4"/>
          <p:cNvSpPr/>
          <p:nvPr/>
        </p:nvSpPr>
        <p:spPr>
          <a:xfrm>
            <a:off x="1127760" y="24790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cd very-little-game-little</a:t>
            </a:r>
            <a:endParaRPr lang="en-US" sz="1500" dirty="0"/>
          </a:p>
        </p:txBody>
      </p:sp>
      <p:sp>
        <p:nvSpPr>
          <p:cNvPr id="7" name="Text 5"/>
          <p:cNvSpPr/>
          <p:nvPr/>
        </p:nvSpPr>
        <p:spPr>
          <a:xfrm>
            <a:off x="1127760" y="27838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cp .env.example .env</a:t>
            </a:r>
            <a:endParaRPr lang="en-US" sz="1500" dirty="0"/>
          </a:p>
        </p:txBody>
      </p:sp>
      <p:sp>
        <p:nvSpPr>
          <p:cNvPr id="8" name="Text 6"/>
          <p:cNvSpPr/>
          <p:nvPr/>
        </p:nvSpPr>
        <p:spPr>
          <a:xfrm>
            <a:off x="1127760" y="30886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npm install</a:t>
            </a:r>
            <a:endParaRPr lang="en-US" sz="1500" dirty="0"/>
          </a:p>
        </p:txBody>
      </p:sp>
      <p:sp>
        <p:nvSpPr>
          <p:cNvPr id="9" name="Text 7"/>
          <p:cNvSpPr/>
          <p:nvPr/>
        </p:nvSpPr>
        <p:spPr>
          <a:xfrm>
            <a:off x="1127760" y="33934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npm run db:up &amp;&amp; npm run db:migrate &amp;&amp; npm run db:seed</a:t>
            </a:r>
            <a:endParaRPr lang="en-US" sz="1500" dirty="0"/>
          </a:p>
        </p:txBody>
      </p:sp>
      <p:sp>
        <p:nvSpPr>
          <p:cNvPr id="10" name="Text 8"/>
          <p:cNvSpPr/>
          <p:nvPr/>
        </p:nvSpPr>
        <p:spPr>
          <a:xfrm>
            <a:off x="1127760" y="3698242"/>
            <a:ext cx="10234575"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3EFE6"/>
                </a:solidFill>
                <a:latin typeface="JetBrains Mono" pitchFamily="49" charset="0"/>
                <a:ea typeface="JetBrains Mono" pitchFamily="49" charset="-122"/>
                <a:cs typeface="JetBrains Mono" pitchFamily="49" charset="-120"/>
              </a:rPr>
              <a:t>npm run play</a:t>
            </a:r>
            <a:endParaRPr lang="en-US" sz="1500" dirty="0"/>
          </a:p>
        </p:txBody>
      </p:sp>
      <p:sp>
        <p:nvSpPr>
          <p:cNvPr id="11" name="Text 9"/>
          <p:cNvSpPr/>
          <p:nvPr/>
        </p:nvSpPr>
        <p:spPr>
          <a:xfrm>
            <a:off x="812800" y="4648200"/>
            <a:ext cx="40502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EB9CB"/>
                </a:solidFill>
                <a:latin typeface="Rubik" pitchFamily="34" charset="0"/>
                <a:ea typeface="Rubik" pitchFamily="34" charset="-122"/>
                <a:cs typeface="Rubik" pitchFamily="34" charset="-120"/>
              </a:rPr>
              <a:t>Prérequis : Node.js 20 et Docker. Puis ouvrir</a:t>
            </a:r>
            <a:endParaRPr lang="en-US" sz="1500" dirty="0"/>
          </a:p>
        </p:txBody>
      </p:sp>
      <p:sp>
        <p:nvSpPr>
          <p:cNvPr id="12" name="Text 10"/>
          <p:cNvSpPr/>
          <p:nvPr/>
        </p:nvSpPr>
        <p:spPr>
          <a:xfrm>
            <a:off x="4863068" y="4572000"/>
            <a:ext cx="2070100" cy="419100"/>
          </a:xfrm>
          <a:prstGeom prst="roundRect">
            <a:avLst>
              <a:gd name="adj" fmla="val 50000"/>
            </a:avLst>
          </a:prstGeom>
          <a:solidFill>
            <a:srgbClr val="FF7A45"/>
          </a:solidFill>
          <a:ln/>
        </p:spPr>
        <p:txBody>
          <a:bodyPr wrap="none" lIns="0" tIns="0" rIns="0" bIns="0" rtlCol="0" anchor="ctr">
            <a:normAutofit/>
          </a:bodyPr>
          <a:lstStyle/>
          <a:p>
            <a:pPr algn="ctr" indent="0" marL="0">
              <a:lnSpc>
                <a:spcPts val="2100"/>
              </a:lnSpc>
              <a:buNone/>
            </a:pPr>
            <a:r>
              <a:rPr lang="en-US" sz="1500" b="1" dirty="0">
                <a:solidFill>
                  <a:srgbClr val="11161F"/>
                </a:solidFill>
                <a:latin typeface="JetBrains Mono" pitchFamily="49" charset="0"/>
                <a:ea typeface="JetBrains Mono" pitchFamily="49" charset="-122"/>
                <a:cs typeface="JetBrains Mono" pitchFamily="49" charset="-120"/>
              </a:rPr>
              <a:t>localhost:43123</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202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45"/>
                </a:solidFill>
                <a:latin typeface="JetBrains Mono" pitchFamily="49" charset="0"/>
                <a:ea typeface="JetBrains Mono" pitchFamily="49" charset="-122"/>
                <a:cs typeface="JetBrains Mono" pitchFamily="49" charset="-120"/>
              </a:rPr>
              <a:t>ET ENSUITE</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3EFE6"/>
                </a:solidFill>
                <a:latin typeface="Oswald" pitchFamily="34" charset="0"/>
                <a:ea typeface="Oswald" pitchFamily="34" charset="-122"/>
                <a:cs typeface="Oswald" pitchFamily="34" charset="-120"/>
              </a:rPr>
              <a:t>Apprendre de ses erreurs</a:t>
            </a:r>
            <a:endParaRPr lang="en-US" sz="3600" dirty="0"/>
          </a:p>
        </p:txBody>
      </p:sp>
      <p:sp>
        <p:nvSpPr>
          <p:cNvPr id="4" name="Shape 2"/>
          <p:cNvSpPr/>
          <p:nvPr/>
        </p:nvSpPr>
        <p:spPr>
          <a:xfrm>
            <a:off x="819150" y="1967229"/>
            <a:ext cx="5181600" cy="1343660"/>
          </a:xfrm>
          <a:prstGeom prst="roundRect">
            <a:avLst>
              <a:gd name="adj" fmla="val 7089"/>
            </a:avLst>
          </a:prstGeom>
          <a:solidFill>
            <a:srgbClr val="11161F"/>
          </a:solidFill>
          <a:ln w="12700">
            <a:solidFill>
              <a:srgbClr val="2A3547"/>
            </a:solidFill>
            <a:prstDash val="solid"/>
          </a:ln>
        </p:spPr>
      </p:sp>
      <p:sp>
        <p:nvSpPr>
          <p:cNvPr id="5" name="Text 3"/>
          <p:cNvSpPr/>
          <p:nvPr/>
        </p:nvSpPr>
        <p:spPr>
          <a:xfrm>
            <a:off x="1051560" y="2199642"/>
            <a:ext cx="4858283"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F7A45"/>
                </a:solidFill>
                <a:latin typeface="Oswald" pitchFamily="34" charset="0"/>
                <a:ea typeface="Oswald" pitchFamily="34" charset="-122"/>
                <a:cs typeface="Oswald" pitchFamily="34" charset="-120"/>
              </a:rPr>
              <a:t>Récapitulatif des erreurs</a:t>
            </a:r>
            <a:endParaRPr lang="en-US" sz="2000" dirty="0"/>
          </a:p>
        </p:txBody>
      </p:sp>
      <p:sp>
        <p:nvSpPr>
          <p:cNvPr id="6" name="Text 4"/>
          <p:cNvSpPr/>
          <p:nvPr/>
        </p:nvSpPr>
        <p:spPr>
          <a:xfrm>
            <a:off x="1051560" y="2580642"/>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En fin de partie, les questions ratées avec leur explication et le lien MDN.</a:t>
            </a:r>
            <a:endParaRPr lang="en-US" sz="1400" dirty="0"/>
          </a:p>
        </p:txBody>
      </p:sp>
      <p:sp>
        <p:nvSpPr>
          <p:cNvPr id="7" name="Shape 5"/>
          <p:cNvSpPr/>
          <p:nvPr/>
        </p:nvSpPr>
        <p:spPr>
          <a:xfrm>
            <a:off x="6191250" y="1967229"/>
            <a:ext cx="5181600" cy="1343660"/>
          </a:xfrm>
          <a:prstGeom prst="roundRect">
            <a:avLst>
              <a:gd name="adj" fmla="val 7089"/>
            </a:avLst>
          </a:prstGeom>
          <a:solidFill>
            <a:srgbClr val="11161F"/>
          </a:solidFill>
          <a:ln w="12700">
            <a:solidFill>
              <a:srgbClr val="2A3547"/>
            </a:solidFill>
            <a:prstDash val="solid"/>
          </a:ln>
        </p:spPr>
      </p:sp>
      <p:sp>
        <p:nvSpPr>
          <p:cNvPr id="8" name="Text 6"/>
          <p:cNvSpPr/>
          <p:nvPr/>
        </p:nvSpPr>
        <p:spPr>
          <a:xfrm>
            <a:off x="6423660" y="2199642"/>
            <a:ext cx="4858283"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F7A45"/>
                </a:solidFill>
                <a:latin typeface="Oswald" pitchFamily="34" charset="0"/>
                <a:ea typeface="Oswald" pitchFamily="34" charset="-122"/>
                <a:cs typeface="Oswald" pitchFamily="34" charset="-120"/>
              </a:rPr>
              <a:t>Mode révision</a:t>
            </a:r>
            <a:endParaRPr lang="en-US" sz="2000" dirty="0"/>
          </a:p>
        </p:txBody>
      </p:sp>
      <p:sp>
        <p:nvSpPr>
          <p:cNvPr id="9" name="Text 7"/>
          <p:cNvSpPr/>
          <p:nvPr/>
        </p:nvSpPr>
        <p:spPr>
          <a:xfrm>
            <a:off x="6423660" y="2580642"/>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Des parties qui reviennent sur les questions que chacun rate le plus.</a:t>
            </a:r>
            <a:endParaRPr lang="en-US" sz="1400" dirty="0"/>
          </a:p>
        </p:txBody>
      </p:sp>
      <p:sp>
        <p:nvSpPr>
          <p:cNvPr id="10" name="Shape 8"/>
          <p:cNvSpPr/>
          <p:nvPr/>
        </p:nvSpPr>
        <p:spPr>
          <a:xfrm>
            <a:off x="819150" y="3501392"/>
            <a:ext cx="5181600" cy="1343660"/>
          </a:xfrm>
          <a:prstGeom prst="roundRect">
            <a:avLst>
              <a:gd name="adj" fmla="val 7089"/>
            </a:avLst>
          </a:prstGeom>
          <a:solidFill>
            <a:srgbClr val="11161F"/>
          </a:solidFill>
          <a:ln w="12700">
            <a:solidFill>
              <a:srgbClr val="2A3547"/>
            </a:solidFill>
            <a:prstDash val="solid"/>
          </a:ln>
        </p:spPr>
      </p:sp>
      <p:sp>
        <p:nvSpPr>
          <p:cNvPr id="11" name="Text 9"/>
          <p:cNvSpPr/>
          <p:nvPr/>
        </p:nvSpPr>
        <p:spPr>
          <a:xfrm>
            <a:off x="1051560" y="3733800"/>
            <a:ext cx="4858283"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F7A45"/>
                </a:solidFill>
                <a:latin typeface="Oswald" pitchFamily="34" charset="0"/>
                <a:ea typeface="Oswald" pitchFamily="34" charset="-122"/>
                <a:cs typeface="Oswald" pitchFamily="34" charset="-120"/>
              </a:rPr>
              <a:t>Plus de contenu</a:t>
            </a:r>
            <a:endParaRPr lang="en-US" sz="2000" dirty="0"/>
          </a:p>
        </p:txBody>
      </p:sp>
      <p:sp>
        <p:nvSpPr>
          <p:cNvPr id="12" name="Text 10"/>
          <p:cNvSpPr/>
          <p:nvPr/>
        </p:nvSpPr>
        <p:spPr>
          <a:xfrm>
            <a:off x="1051560" y="4114800"/>
            <a:ext cx="485828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20 questions par thème, niveaux de difficulté, classement par thème.</a:t>
            </a:r>
            <a:endParaRPr lang="en-US" sz="1400" dirty="0"/>
          </a:p>
        </p:txBody>
      </p:sp>
      <p:sp>
        <p:nvSpPr>
          <p:cNvPr id="13" name="Shape 11"/>
          <p:cNvSpPr/>
          <p:nvPr/>
        </p:nvSpPr>
        <p:spPr>
          <a:xfrm>
            <a:off x="6191250" y="3501392"/>
            <a:ext cx="5181600" cy="1343660"/>
          </a:xfrm>
          <a:prstGeom prst="roundRect">
            <a:avLst>
              <a:gd name="adj" fmla="val 7089"/>
            </a:avLst>
          </a:prstGeom>
          <a:solidFill>
            <a:srgbClr val="11161F"/>
          </a:solidFill>
          <a:ln w="12700">
            <a:solidFill>
              <a:srgbClr val="2A3547"/>
            </a:solidFill>
            <a:prstDash val="solid"/>
          </a:ln>
        </p:spPr>
      </p:sp>
      <p:sp>
        <p:nvSpPr>
          <p:cNvPr id="14" name="Text 12"/>
          <p:cNvSpPr/>
          <p:nvPr/>
        </p:nvSpPr>
        <p:spPr>
          <a:xfrm>
            <a:off x="6423660" y="3733800"/>
            <a:ext cx="4858283"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F7A45"/>
                </a:solidFill>
                <a:latin typeface="Oswald" pitchFamily="34" charset="0"/>
                <a:ea typeface="Oswald" pitchFamily="34" charset="-122"/>
                <a:cs typeface="Oswald" pitchFamily="34" charset="-120"/>
              </a:rPr>
              <a:t>En ligne</a:t>
            </a:r>
            <a:endParaRPr lang="en-US" sz="2000" dirty="0"/>
          </a:p>
        </p:txBody>
      </p:sp>
      <p:sp>
        <p:nvSpPr>
          <p:cNvPr id="15" name="Text 13"/>
          <p:cNvSpPr/>
          <p:nvPr/>
        </p:nvSpPr>
        <p:spPr>
          <a:xfrm>
            <a:off x="6423660" y="4114800"/>
            <a:ext cx="485828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9CB"/>
                </a:solidFill>
                <a:latin typeface="Rubik" pitchFamily="34" charset="0"/>
                <a:ea typeface="Rubik" pitchFamily="34" charset="-122"/>
                <a:cs typeface="Rubik" pitchFamily="34" charset="-120"/>
              </a:rPr>
              <a:t>Déployer le jeu pour y jouer sans rien installer.</a:t>
            </a:r>
            <a:endParaRPr lang="en-US" sz="1400" dirty="0"/>
          </a:p>
        </p:txBody>
      </p:sp>
    </p:spTree>
  </p:cSld>
  <p:clrMapOvr>
    <a:masterClrMapping/>
  </p:clrMapOvr>
</p:sld>
</file>

<file path=ppt/theme/theme1.xml><?xml version="1.0" encoding="utf-8"?>
<a:theme xmlns:a="http://schemas.openxmlformats.org/drawingml/2006/main" name="Pan ! Mauvaise réponse">
  <a:themeElements>
    <a:clrScheme name="Pan ! Mauvaise réponse">
      <a:dk1>
        <a:srgbClr val="18202D"/>
      </a:dk1>
      <a:lt1>
        <a:srgbClr val="F3EFE6"/>
      </a:lt1>
      <a:dk2>
        <a:srgbClr val="2E3540"/>
      </a:dk2>
      <a:lt2>
        <a:srgbClr val="BCBBB8"/>
      </a:lt2>
      <a:accent1>
        <a:srgbClr val="FF7A45"/>
      </a:accent1>
      <a:accent2>
        <a:srgbClr val="AEB9CB"/>
      </a:accent2>
      <a:accent3>
        <a:srgbClr val="9AA0A6"/>
      </a:accent3>
      <a:accent4>
        <a:srgbClr val="9B9C9C"/>
      </a:accent4>
      <a:accent5>
        <a:srgbClr val="7B7D80"/>
      </a:accent5>
      <a:accent6>
        <a:srgbClr val="5A5E65"/>
      </a:accent6>
      <a:hlink>
        <a:srgbClr val="0563C1"/>
      </a:hlink>
      <a:folHlink>
        <a:srgbClr val="954F72"/>
      </a:folHlink>
    </a:clrScheme>
    <a:fontScheme name="Pan ! Mauvaise réponse">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 ! Mauvaise réponse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2026-10-27T08:59:12Z</dcterms:created>
  <dcterms:modified xsi:type="dcterms:W3CDTF">2026-10-27T08:59:12Z</dcterms:modified>
</cp:coreProperties>
</file>